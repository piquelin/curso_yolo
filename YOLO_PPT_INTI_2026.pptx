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12192000" cy="6858000"/>
  <p:notesSz cx="6858000" cy="9144000"/>
  <p:embeddedFontLst>
    <p:embeddedFont>
      <p:font typeface="Lora" panose="02000503000000020004" pitchFamily="2" charset="0"/>
      <p:regular r:id="rId26"/>
      <p:bold r:id="rId27"/>
      <p:italic r:id="rId28"/>
      <p:boldItalic r:id="rId29"/>
    </p:embeddedFont>
    <p:embeddedFont>
      <p:font typeface="Lora Medium" pitchFamily="2" charset="0"/>
      <p:regular r:id="rId30"/>
      <p:bold r:id="rId31"/>
      <p:italic r:id="rId32"/>
      <p:boldItalic r:id="rId33"/>
    </p:embeddedFont>
    <p:embeddedFont>
      <p:font typeface="Montserrat" panose="02000505000000020004" pitchFamily="2" charset="0"/>
      <p:regular r:id="rId34"/>
      <p:bold r:id="rId35"/>
      <p:italic r:id="rId36"/>
      <p:boldItalic r:id="rId37"/>
    </p:embeddedFont>
    <p:embeddedFont>
      <p:font typeface="Montserrat Medium" panose="00000600000000000000" pitchFamily="2" charset="0"/>
      <p:regular r:id="rId38"/>
      <p:bold r:id="rId39"/>
      <p:italic r:id="rId40"/>
      <p:boldItalic r:id="rId41"/>
    </p:embeddedFont>
    <p:embeddedFont>
      <p:font typeface="Verdana" panose="020B0604030504040204" pitchFamily="3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6" roundtripDataSignature="AMtx7mjkFc3hd/eRNY19VO4/gGvmFK+v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300" autoAdjust="0"/>
  </p:normalViewPr>
  <p:slideViewPr>
    <p:cSldViewPr snapToGrid="0">
      <p:cViewPr varScale="1">
        <p:scale>
          <a:sx n="61" d="100"/>
          <a:sy n="61" d="100"/>
        </p:scale>
        <p:origin x="10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45" Type="http://schemas.openxmlformats.org/officeDocument/2006/relationships/font" Target="fonts/font2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4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58" name="Google Shape;5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318a60462_0_0:notes"/>
          <p:cNvSpPr txBox="1">
            <a:spLocks noGrp="1"/>
          </p:cNvSpPr>
          <p:nvPr>
            <p:ph type="body" idx="1"/>
          </p:nvPr>
        </p:nvSpPr>
        <p:spPr>
          <a:xfrm>
            <a:off x="473722" y="6426118"/>
            <a:ext cx="37899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 dirty="0"/>
              <a:t>Red neuronal, clasificación, regresión. entrenamiento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 dirty="0"/>
              <a:t> y </a:t>
            </a:r>
            <a:r>
              <a:rPr lang="es-ES" dirty="0" err="1"/>
              <a:t>backpropagation</a:t>
            </a:r>
            <a:endParaRPr dirty="0"/>
          </a:p>
        </p:txBody>
      </p:sp>
      <p:sp>
        <p:nvSpPr>
          <p:cNvPr id="65" name="Google Shape;65;g3f318a6046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35125" y="1670050"/>
            <a:ext cx="8007350" cy="4505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5c9f55043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73" name="Google Shape;73;g3f5c9f55043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318a60462_0_148:notes"/>
          <p:cNvSpPr txBox="1">
            <a:spLocks noGrp="1"/>
          </p:cNvSpPr>
          <p:nvPr>
            <p:ph type="body" idx="1"/>
          </p:nvPr>
        </p:nvSpPr>
        <p:spPr>
          <a:xfrm>
            <a:off x="685800" y="4400555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79" name="Google Shape;79;g3f318a60462_0_1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318a60462_0_1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dirty="0"/>
          </a:p>
        </p:txBody>
      </p:sp>
      <p:sp>
        <p:nvSpPr>
          <p:cNvPr id="86" name="Google Shape;86;g3f318a60462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318a60462_0_176:notes"/>
          <p:cNvSpPr txBox="1">
            <a:spLocks noGrp="1"/>
          </p:cNvSpPr>
          <p:nvPr>
            <p:ph type="body" idx="1"/>
          </p:nvPr>
        </p:nvSpPr>
        <p:spPr>
          <a:xfrm>
            <a:off x="473722" y="6426118"/>
            <a:ext cx="37899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s-ES" dirty="0" err="1"/>
              <a:t>Kernels</a:t>
            </a:r>
            <a:r>
              <a:rPr lang="es-ES" dirty="0"/>
              <a:t>, </a:t>
            </a:r>
            <a:r>
              <a:rPr lang="es-ES" dirty="0" err="1"/>
              <a:t>feature</a:t>
            </a:r>
            <a:r>
              <a:rPr lang="es-ES" dirty="0"/>
              <a:t> </a:t>
            </a:r>
            <a:r>
              <a:rPr lang="es-ES" dirty="0" err="1"/>
              <a:t>maps</a:t>
            </a:r>
            <a:r>
              <a:rPr lang="es-ES" dirty="0"/>
              <a:t>, proyección en un nuevo espacio de n dimensiones</a:t>
            </a:r>
            <a:endParaRPr dirty="0"/>
          </a:p>
        </p:txBody>
      </p:sp>
      <p:sp>
        <p:nvSpPr>
          <p:cNvPr id="91" name="Google Shape;91;g3f318a60462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35125" y="1670050"/>
            <a:ext cx="8007350" cy="4505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5c9f55043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02" name="Google Shape;102;g3f5c9f55043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318a60462_0_20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07" name="Google Shape;107;g3f318a60462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318a60462_0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13" name="Google Shape;113;g3f318a60462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18a60462_0_2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22" name="Google Shape;122;g3f318a60462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318a60462_0_2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31" name="Google Shape;131;g3f318a6046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318a60462_0_2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40" name="Google Shape;140;g3f318a60462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318a60462_0_3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49" name="Google Shape;149;g3f318a60462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18a60462_0_2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55" name="Google Shape;155;g3f318a60462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318a60462_0_2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62" name="Google Shape;162;g3f318a60462_0_2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318a60462_0_29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69" name="Google Shape;169;g3f318a60462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318a60462_0_3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78" name="Google Shape;178;g3f318a60462_0_3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318a60462_0_3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88" name="Google Shape;188;g3f318a60462_0_3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318a60462_0_3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198" name="Google Shape;198;g3f318a60462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318a60462_0_3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208" name="Google Shape;208;g3f318a60462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318a60462_0_392:notes"/>
          <p:cNvSpPr txBox="1">
            <a:spLocks noGrp="1"/>
          </p:cNvSpPr>
          <p:nvPr>
            <p:ph type="body" idx="1"/>
          </p:nvPr>
        </p:nvSpPr>
        <p:spPr>
          <a:xfrm>
            <a:off x="473722" y="6426118"/>
            <a:ext cx="37899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220" name="Google Shape;220;g3f318a60462_0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635125" y="1670050"/>
            <a:ext cx="8007350" cy="4505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>
          <a:extLst>
            <a:ext uri="{FF2B5EF4-FFF2-40B4-BE49-F238E27FC236}">
              <a16:creationId xmlns:a16="http://schemas.microsoft.com/office/drawing/2014/main" id="{BA447C6E-D72F-4531-17B9-281FBB1F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318a60462_0_392:notes">
            <a:extLst>
              <a:ext uri="{FF2B5EF4-FFF2-40B4-BE49-F238E27FC236}">
                <a16:creationId xmlns:a16="http://schemas.microsoft.com/office/drawing/2014/main" id="{14512172-0A28-B679-2F32-B325384352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73722" y="6426118"/>
            <a:ext cx="37899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220" name="Google Shape;220;g3f318a60462_0_392:notes">
            <a:extLst>
              <a:ext uri="{FF2B5EF4-FFF2-40B4-BE49-F238E27FC236}">
                <a16:creationId xmlns:a16="http://schemas.microsoft.com/office/drawing/2014/main" id="{EF3F000A-495B-D77F-3C57-83FB80EEBD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635125" y="1670050"/>
            <a:ext cx="8007350" cy="4505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7392406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227" name="Google Shape;22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PTMON title">
  <p:cSld name="PPTMON title">
    <p:bg>
      <p:bgPr>
        <a:solidFill>
          <a:srgbClr val="242C4F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6036" y="5293107"/>
            <a:ext cx="7133452" cy="9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PPTMON slide">
  <p:cSld name="3_PPTMON slide">
    <p:bg>
      <p:bgPr>
        <a:solidFill>
          <a:srgbClr val="242C4F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53"/>
          <p:cNvSpPr txBox="1"/>
          <p:nvPr/>
        </p:nvSpPr>
        <p:spPr>
          <a:xfrm>
            <a:off x="936401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fld id="{00000000-1234-1234-1234-123412341234}" type="slidenum">
              <a:rPr lang="es-AR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8804" y="6249976"/>
            <a:ext cx="3566726" cy="4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PTMON title">
  <p:cSld name="1_PPTMON title">
    <p:bg>
      <p:bgPr>
        <a:solidFill>
          <a:srgbClr val="242C4F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4"/>
          <p:cNvSpPr txBox="1"/>
          <p:nvPr/>
        </p:nvSpPr>
        <p:spPr>
          <a:xfrm>
            <a:off x="936401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fld id="{00000000-1234-1234-1234-123412341234}" type="slidenum">
              <a:rPr lang="es-AR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6036" y="5293107"/>
            <a:ext cx="7133452" cy="9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1_Custom Layout 1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5"/>
          <p:cNvSpPr/>
          <p:nvPr/>
        </p:nvSpPr>
        <p:spPr>
          <a:xfrm>
            <a:off x="0" y="0"/>
            <a:ext cx="3412000" cy="6858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" name="Google Shape;20;p55"/>
          <p:cNvSpPr/>
          <p:nvPr/>
        </p:nvSpPr>
        <p:spPr>
          <a:xfrm>
            <a:off x="0" y="6145306"/>
            <a:ext cx="12192000" cy="712694"/>
          </a:xfrm>
          <a:prstGeom prst="rect">
            <a:avLst/>
          </a:prstGeom>
          <a:solidFill>
            <a:srgbClr val="242C4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" name="Google Shape;21;p55"/>
          <p:cNvSpPr txBox="1"/>
          <p:nvPr/>
        </p:nvSpPr>
        <p:spPr>
          <a:xfrm>
            <a:off x="936401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fld id="{00000000-1234-1234-1234-123412341234}" type="slidenum">
              <a:rPr lang="es-AR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8804" y="6249976"/>
            <a:ext cx="3566726" cy="4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 Layout 1">
    <p:bg>
      <p:bgPr>
        <a:solidFill>
          <a:schemeClr val="lt1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6"/>
          <p:cNvSpPr/>
          <p:nvPr/>
        </p:nvSpPr>
        <p:spPr>
          <a:xfrm>
            <a:off x="0" y="6145306"/>
            <a:ext cx="12192000" cy="712694"/>
          </a:xfrm>
          <a:prstGeom prst="rect">
            <a:avLst/>
          </a:prstGeom>
          <a:solidFill>
            <a:srgbClr val="242C4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" name="Google Shape;25;p56"/>
          <p:cNvSpPr txBox="1"/>
          <p:nvPr/>
        </p:nvSpPr>
        <p:spPr>
          <a:xfrm>
            <a:off x="936401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fld id="{00000000-1234-1234-1234-123412341234}" type="slidenum">
              <a:rPr lang="es-AR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" name="Google Shape;26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8804" y="6249976"/>
            <a:ext cx="3566726" cy="4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1_Custom Layout 1 2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7"/>
          <p:cNvSpPr/>
          <p:nvPr/>
        </p:nvSpPr>
        <p:spPr>
          <a:xfrm>
            <a:off x="8780000" y="0"/>
            <a:ext cx="3412000" cy="68580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" name="Google Shape;29;p57"/>
          <p:cNvSpPr/>
          <p:nvPr/>
        </p:nvSpPr>
        <p:spPr>
          <a:xfrm>
            <a:off x="0" y="6145306"/>
            <a:ext cx="12192000" cy="712694"/>
          </a:xfrm>
          <a:prstGeom prst="rect">
            <a:avLst/>
          </a:prstGeom>
          <a:solidFill>
            <a:srgbClr val="242C4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" name="Google Shape;30;p57"/>
          <p:cNvSpPr txBox="1"/>
          <p:nvPr/>
        </p:nvSpPr>
        <p:spPr>
          <a:xfrm>
            <a:off x="936401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fld id="{00000000-1234-1234-1234-123412341234}" type="slidenum">
              <a:rPr lang="es-AR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8804" y="6249976"/>
            <a:ext cx="3566726" cy="4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PTMON slide">
  <p:cSld name="1_PPTMON slide">
    <p:bg>
      <p:bgPr>
        <a:solidFill>
          <a:schemeClr val="lt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8"/>
          <p:cNvSpPr>
            <a:spLocks noGrp="1"/>
          </p:cNvSpPr>
          <p:nvPr>
            <p:ph type="pic" idx="2"/>
          </p:nvPr>
        </p:nvSpPr>
        <p:spPr>
          <a:xfrm>
            <a:off x="8134719" y="202492"/>
            <a:ext cx="3860800" cy="5714800"/>
          </a:xfrm>
          <a:prstGeom prst="roundRect">
            <a:avLst>
              <a:gd name="adj" fmla="val 9005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58"/>
          <p:cNvSpPr>
            <a:spLocks noGrp="1"/>
          </p:cNvSpPr>
          <p:nvPr>
            <p:ph type="pic" idx="3"/>
          </p:nvPr>
        </p:nvSpPr>
        <p:spPr>
          <a:xfrm>
            <a:off x="4181285" y="202492"/>
            <a:ext cx="3860800" cy="5714800"/>
          </a:xfrm>
          <a:prstGeom prst="roundRect">
            <a:avLst>
              <a:gd name="adj" fmla="val 9353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58"/>
          <p:cNvSpPr>
            <a:spLocks noGrp="1"/>
          </p:cNvSpPr>
          <p:nvPr>
            <p:ph type="pic" idx="4"/>
          </p:nvPr>
        </p:nvSpPr>
        <p:spPr>
          <a:xfrm>
            <a:off x="218885" y="202492"/>
            <a:ext cx="3860800" cy="5714800"/>
          </a:xfrm>
          <a:prstGeom prst="roundRect">
            <a:avLst>
              <a:gd name="adj" fmla="val 9701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58"/>
          <p:cNvSpPr/>
          <p:nvPr/>
        </p:nvSpPr>
        <p:spPr>
          <a:xfrm>
            <a:off x="0" y="6145306"/>
            <a:ext cx="12192000" cy="712694"/>
          </a:xfrm>
          <a:prstGeom prst="rect">
            <a:avLst/>
          </a:prstGeom>
          <a:solidFill>
            <a:srgbClr val="242C4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" name="Google Shape;37;p58"/>
          <p:cNvSpPr txBox="1"/>
          <p:nvPr/>
        </p:nvSpPr>
        <p:spPr>
          <a:xfrm>
            <a:off x="936401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fld id="{00000000-1234-1234-1234-123412341234}" type="slidenum">
              <a:rPr lang="es-AR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8804" y="6249976"/>
            <a:ext cx="3566726" cy="4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PPTMON slide">
  <p:cSld name="7_PPTMON slide">
    <p:bg>
      <p:bgPr>
        <a:solidFill>
          <a:schemeClr val="lt1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9"/>
          <p:cNvSpPr/>
          <p:nvPr/>
        </p:nvSpPr>
        <p:spPr>
          <a:xfrm>
            <a:off x="0" y="6145306"/>
            <a:ext cx="12192000" cy="712694"/>
          </a:xfrm>
          <a:prstGeom prst="rect">
            <a:avLst/>
          </a:prstGeom>
          <a:solidFill>
            <a:srgbClr val="242C4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endParaRPr sz="1867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" name="Google Shape;41;p59"/>
          <p:cNvSpPr txBox="1"/>
          <p:nvPr/>
        </p:nvSpPr>
        <p:spPr>
          <a:xfrm>
            <a:off x="936401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fld id="{00000000-1234-1234-1234-123412341234}" type="slidenum">
              <a:rPr lang="es-AR"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9"/>
          <p:cNvSpPr>
            <a:spLocks noGrp="1"/>
          </p:cNvSpPr>
          <p:nvPr>
            <p:ph type="pic" idx="2"/>
          </p:nvPr>
        </p:nvSpPr>
        <p:spPr>
          <a:xfrm>
            <a:off x="4727171" y="212561"/>
            <a:ext cx="1962400" cy="182048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" name="Google Shape;43;p59"/>
          <p:cNvSpPr>
            <a:spLocks noGrp="1"/>
          </p:cNvSpPr>
          <p:nvPr>
            <p:ph type="pic" idx="3"/>
          </p:nvPr>
        </p:nvSpPr>
        <p:spPr>
          <a:xfrm>
            <a:off x="2648306" y="212561"/>
            <a:ext cx="1962400" cy="182048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59"/>
          <p:cNvSpPr>
            <a:spLocks noGrp="1"/>
          </p:cNvSpPr>
          <p:nvPr>
            <p:ph type="pic" idx="4"/>
          </p:nvPr>
        </p:nvSpPr>
        <p:spPr>
          <a:xfrm>
            <a:off x="557954" y="212561"/>
            <a:ext cx="1962400" cy="182048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" name="Google Shape;45;p59"/>
          <p:cNvSpPr>
            <a:spLocks noGrp="1"/>
          </p:cNvSpPr>
          <p:nvPr>
            <p:ph type="pic" idx="5"/>
          </p:nvPr>
        </p:nvSpPr>
        <p:spPr>
          <a:xfrm>
            <a:off x="4729455" y="2181524"/>
            <a:ext cx="1962400" cy="182048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59"/>
          <p:cNvSpPr>
            <a:spLocks noGrp="1"/>
          </p:cNvSpPr>
          <p:nvPr>
            <p:ph type="pic" idx="6"/>
          </p:nvPr>
        </p:nvSpPr>
        <p:spPr>
          <a:xfrm>
            <a:off x="2650590" y="2181524"/>
            <a:ext cx="1962400" cy="182048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59"/>
          <p:cNvSpPr>
            <a:spLocks noGrp="1"/>
          </p:cNvSpPr>
          <p:nvPr>
            <p:ph type="pic" idx="7"/>
          </p:nvPr>
        </p:nvSpPr>
        <p:spPr>
          <a:xfrm>
            <a:off x="560236" y="2181524"/>
            <a:ext cx="1962400" cy="182048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59"/>
          <p:cNvSpPr>
            <a:spLocks noGrp="1"/>
          </p:cNvSpPr>
          <p:nvPr>
            <p:ph type="pic" idx="8"/>
          </p:nvPr>
        </p:nvSpPr>
        <p:spPr>
          <a:xfrm>
            <a:off x="4731722" y="4150488"/>
            <a:ext cx="1962400" cy="182048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59"/>
          <p:cNvSpPr>
            <a:spLocks noGrp="1"/>
          </p:cNvSpPr>
          <p:nvPr>
            <p:ph type="pic" idx="9"/>
          </p:nvPr>
        </p:nvSpPr>
        <p:spPr>
          <a:xfrm>
            <a:off x="2652856" y="4150488"/>
            <a:ext cx="1962400" cy="182048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59"/>
          <p:cNvSpPr>
            <a:spLocks noGrp="1"/>
          </p:cNvSpPr>
          <p:nvPr>
            <p:ph type="pic" idx="13"/>
          </p:nvPr>
        </p:nvSpPr>
        <p:spPr>
          <a:xfrm>
            <a:off x="562503" y="4150488"/>
            <a:ext cx="1962400" cy="1820489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" name="Google Shape;51;p59"/>
          <p:cNvSpPr>
            <a:spLocks noGrp="1"/>
          </p:cNvSpPr>
          <p:nvPr>
            <p:ph type="pic" idx="14"/>
          </p:nvPr>
        </p:nvSpPr>
        <p:spPr>
          <a:xfrm>
            <a:off x="6845575" y="212561"/>
            <a:ext cx="4786800" cy="5758415"/>
          </a:xfrm>
          <a:prstGeom prst="roundRect">
            <a:avLst>
              <a:gd name="adj" fmla="val 7839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52" name="Google Shape;52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8804" y="6249976"/>
            <a:ext cx="3566726" cy="46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CON 1">
  <p:cSld name="MECON 1">
    <p:bg>
      <p:bgPr>
        <a:solidFill>
          <a:srgbClr val="282A4E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227299" y="4564691"/>
            <a:ext cx="7133452" cy="9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CON 1">
  <p:cSld name="1_MECON 1">
    <p:bg>
      <p:bgPr>
        <a:solidFill>
          <a:srgbClr val="282A4E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C4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Q8dDjvxMMbwY_S-eT2RARtsFUrEcuX-6?usp=sharing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roboflow.com/yolo-object-detection/#overview-of-yolo-family-of-models" TargetMode="External"/><Relationship Id="rId7" Type="http://schemas.openxmlformats.org/officeDocument/2006/relationships/hyperlink" Target="https://ai.meta.com/research/sam3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learnopencv.com/understanding-convolutional-neural-networks-cnn/" TargetMode="External"/><Relationship Id="rId5" Type="http://schemas.openxmlformats.org/officeDocument/2006/relationships/hyperlink" Target="https://www.tensorflow.org/tutorials/images/cnn?hl=es-419" TargetMode="External"/><Relationship Id="rId4" Type="http://schemas.openxmlformats.org/officeDocument/2006/relationships/hyperlink" Target="https://docs.ultralytics.com/es/models/yolo26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1149271" y="984767"/>
            <a:ext cx="9893400" cy="28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267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INTI</a:t>
            </a:r>
            <a:endParaRPr sz="4267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267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5600" b="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YOLO</a:t>
            </a:r>
            <a:endParaRPr sz="5600" b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300" b="1">
                <a:solidFill>
                  <a:srgbClr val="FFFFFF"/>
                </a:solidFill>
                <a:latin typeface="Lora"/>
                <a:ea typeface="Lora"/>
                <a:cs typeface="Lora"/>
                <a:sym typeface="Lora"/>
              </a:rPr>
              <a:t>Visión computacional en tiempo real.</a:t>
            </a:r>
            <a:endParaRPr sz="4300" b="1">
              <a:solidFill>
                <a:srgbClr val="FFFFFF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61" name="Google Shape;61;p1"/>
          <p:cNvCxnSpPr/>
          <p:nvPr/>
        </p:nvCxnSpPr>
        <p:spPr>
          <a:xfrm rot="10800000">
            <a:off x="1149271" y="4212751"/>
            <a:ext cx="3772800" cy="0"/>
          </a:xfrm>
          <a:prstGeom prst="straightConnector1">
            <a:avLst/>
          </a:prstGeom>
          <a:noFill/>
          <a:ln w="9525" cap="flat" cmpd="sng">
            <a:solidFill>
              <a:srgbClr val="E7BA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1"/>
          <p:cNvSpPr txBox="1"/>
          <p:nvPr/>
        </p:nvSpPr>
        <p:spPr>
          <a:xfrm>
            <a:off x="1149270" y="4603184"/>
            <a:ext cx="36603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Julio/2026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318a60462_0_0"/>
          <p:cNvSpPr txBox="1"/>
          <p:nvPr/>
        </p:nvSpPr>
        <p:spPr>
          <a:xfrm>
            <a:off x="766176" y="441500"/>
            <a:ext cx="2181000" cy="11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23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¿Qué es una Red Neuronal Artificial?</a:t>
            </a:r>
            <a:endParaRPr sz="23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68" name="Google Shape;68;g3f318a60462_0_0"/>
          <p:cNvCxnSpPr/>
          <p:nvPr/>
        </p:nvCxnSpPr>
        <p:spPr>
          <a:xfrm>
            <a:off x="766179" y="1945704"/>
            <a:ext cx="1168500" cy="0"/>
          </a:xfrm>
          <a:prstGeom prst="straightConnector1">
            <a:avLst/>
          </a:prstGeom>
          <a:noFill/>
          <a:ln w="9525" cap="flat" cmpd="sng">
            <a:solidFill>
              <a:srgbClr val="282A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Google Shape;69;g3f318a60462_0_0"/>
          <p:cNvSpPr txBox="1"/>
          <p:nvPr/>
        </p:nvSpPr>
        <p:spPr>
          <a:xfrm>
            <a:off x="766175" y="2431350"/>
            <a:ext cx="2461200" cy="3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None/>
            </a:pPr>
            <a:r>
              <a:rPr lang="es-AR" sz="1600">
                <a:solidFill>
                  <a:srgbClr val="242C4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 un modelo computacional que imita las neuronas del cerebro: </a:t>
            </a:r>
            <a:r>
              <a:rPr lang="es-AR" sz="1600">
                <a:solidFill>
                  <a:srgbClr val="242C4F"/>
                </a:solidFill>
                <a:highlight>
                  <a:srgbClr val="E6BB6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nodos interconectados</a:t>
            </a:r>
            <a:r>
              <a:rPr lang="es-AR" sz="1600">
                <a:solidFill>
                  <a:srgbClr val="242C4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que transmiten señales ponderadas para aprender patrones. </a:t>
            </a:r>
            <a:endParaRPr sz="1600">
              <a:solidFill>
                <a:srgbClr val="242C4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None/>
            </a:pPr>
            <a:r>
              <a:rPr lang="es-AR" sz="1600">
                <a:solidFill>
                  <a:srgbClr val="242C4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 entrena con datos y ajusta sus pesos internos para minimizar errores en cada iteración.</a:t>
            </a:r>
            <a:endParaRPr sz="1600">
              <a:solidFill>
                <a:srgbClr val="242C4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0" name="Google Shape;70;g3f318a60462_0_0"/>
          <p:cNvPicPr preferRelativeResize="0"/>
          <p:nvPr/>
        </p:nvPicPr>
        <p:blipFill rotWithShape="1">
          <a:blip r:embed="rId3">
            <a:alphaModFix/>
          </a:blip>
          <a:srcRect l="6157" r="6879"/>
          <a:stretch/>
        </p:blipFill>
        <p:spPr>
          <a:xfrm>
            <a:off x="3561750" y="441500"/>
            <a:ext cx="8439773" cy="546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c9f55043_0_12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¿Qué pasa si mi input es una imágen?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76" name="Google Shape;76;g3f5c9f55043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687" y="1260700"/>
            <a:ext cx="11350625" cy="458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g3f318a60462_0_148"/>
          <p:cNvCxnSpPr/>
          <p:nvPr/>
        </p:nvCxnSpPr>
        <p:spPr>
          <a:xfrm rot="10800000">
            <a:off x="790848" y="2712560"/>
            <a:ext cx="2302500" cy="0"/>
          </a:xfrm>
          <a:prstGeom prst="straightConnector1">
            <a:avLst/>
          </a:prstGeom>
          <a:noFill/>
          <a:ln w="28575" cap="flat" cmpd="sng">
            <a:solidFill>
              <a:srgbClr val="E7BA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g3f318a60462_0_148"/>
          <p:cNvSpPr txBox="1"/>
          <p:nvPr/>
        </p:nvSpPr>
        <p:spPr>
          <a:xfrm>
            <a:off x="766168" y="1168790"/>
            <a:ext cx="103614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rPr lang="es-AR" sz="3700" b="1">
                <a:solidFill>
                  <a:srgbClr val="E6BB62"/>
                </a:solidFill>
                <a:latin typeface="Montserrat"/>
                <a:ea typeface="Montserrat"/>
                <a:cs typeface="Montserrat"/>
                <a:sym typeface="Montserrat"/>
              </a:rPr>
              <a:t>Redes Neuronales Convolucionales </a:t>
            </a:r>
            <a:endParaRPr sz="3700" b="1">
              <a:solidFill>
                <a:srgbClr val="E6BB6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Montserrat"/>
              <a:buNone/>
            </a:pPr>
            <a:r>
              <a:rPr lang="es-AR" sz="3700" b="1">
                <a:solidFill>
                  <a:srgbClr val="E6BB62"/>
                </a:solidFill>
                <a:latin typeface="Montserrat"/>
                <a:ea typeface="Montserrat"/>
                <a:cs typeface="Montserrat"/>
                <a:sym typeface="Montserrat"/>
              </a:rPr>
              <a:t>(CNN)</a:t>
            </a:r>
            <a:endParaRPr sz="35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g3f318a60462_0_148"/>
          <p:cNvSpPr/>
          <p:nvPr/>
        </p:nvSpPr>
        <p:spPr>
          <a:xfrm>
            <a:off x="794225" y="3278989"/>
            <a:ext cx="9885000" cy="19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476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B9BD5"/>
              </a:buClr>
              <a:buSzPts val="2500"/>
              <a:buFont typeface="Montserrat"/>
              <a:buNone/>
            </a:pPr>
            <a:r>
              <a:rPr lang="es-AR" sz="29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Las CNN son el estándar para </a:t>
            </a:r>
            <a:r>
              <a:rPr lang="es-AR" sz="2933" b="1">
                <a:solidFill>
                  <a:srgbClr val="242C4F"/>
                </a:solidFill>
                <a:highlight>
                  <a:srgbClr val="E6BB62"/>
                </a:highlight>
                <a:latin typeface="Montserrat"/>
                <a:ea typeface="Montserrat"/>
                <a:cs typeface="Montserrat"/>
                <a:sym typeface="Montserrat"/>
              </a:rPr>
              <a:t>procesar imágenes.</a:t>
            </a:r>
            <a:r>
              <a:rPr lang="es-AR" sz="2933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Usan filtros convolucionales que se deslizan sobre la imagen para detectar características visuales de forma jerárquica.</a:t>
            </a:r>
            <a:endParaRPr sz="2933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f318a60462_0_165" title="Gemini_Generated_Image_s5i93ns5i93ns5i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0287" y="134400"/>
            <a:ext cx="9671424" cy="59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318a60462_0_176"/>
          <p:cNvSpPr txBox="1"/>
          <p:nvPr/>
        </p:nvSpPr>
        <p:spPr>
          <a:xfrm>
            <a:off x="766175" y="441500"/>
            <a:ext cx="2323500" cy="7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23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¿Cómo funcionan?</a:t>
            </a:r>
            <a:endParaRPr sz="23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4" name="Google Shape;94;g3f318a60462_0_176"/>
          <p:cNvCxnSpPr/>
          <p:nvPr/>
        </p:nvCxnSpPr>
        <p:spPr>
          <a:xfrm>
            <a:off x="766179" y="1568385"/>
            <a:ext cx="1168500" cy="0"/>
          </a:xfrm>
          <a:prstGeom prst="straightConnector1">
            <a:avLst/>
          </a:prstGeom>
          <a:noFill/>
          <a:ln w="9525" cap="flat" cmpd="sng">
            <a:solidFill>
              <a:srgbClr val="282A4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g3f318a60462_0_176"/>
          <p:cNvSpPr txBox="1"/>
          <p:nvPr/>
        </p:nvSpPr>
        <p:spPr>
          <a:xfrm>
            <a:off x="766175" y="1923750"/>
            <a:ext cx="23235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None/>
            </a:pPr>
            <a:r>
              <a:rPr lang="es-AR" sz="1500" b="1">
                <a:solidFill>
                  <a:srgbClr val="242C4F"/>
                </a:solidFill>
                <a:highlight>
                  <a:srgbClr val="E6BB62"/>
                </a:highlight>
                <a:latin typeface="Montserrat"/>
                <a:ea typeface="Montserrat"/>
                <a:cs typeface="Montserrat"/>
                <a:sym typeface="Montserrat"/>
              </a:rPr>
              <a:t>CONVOLUCIÓN</a:t>
            </a:r>
            <a:endParaRPr sz="1500" b="1">
              <a:solidFill>
                <a:srgbClr val="242C4F"/>
              </a:solidFill>
              <a:highlight>
                <a:srgbClr val="E6BB62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None/>
            </a:pPr>
            <a:r>
              <a:rPr lang="es-AR" sz="1500">
                <a:solidFill>
                  <a:srgbClr val="242C4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Filtros detectan bordes, texturas y formas locales.</a:t>
            </a:r>
            <a:endParaRPr sz="1500">
              <a:solidFill>
                <a:srgbClr val="242C4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96" name="Google Shape;96;g3f318a60462_0_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1875" y="184225"/>
            <a:ext cx="8368466" cy="5335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f318a60462_0_176"/>
          <p:cNvSpPr txBox="1"/>
          <p:nvPr/>
        </p:nvSpPr>
        <p:spPr>
          <a:xfrm>
            <a:off x="766175" y="3136988"/>
            <a:ext cx="23235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None/>
            </a:pPr>
            <a:r>
              <a:rPr lang="es-AR" sz="1500" b="1">
                <a:solidFill>
                  <a:srgbClr val="242C4F"/>
                </a:solidFill>
                <a:highlight>
                  <a:srgbClr val="E6BB62"/>
                </a:highlight>
                <a:latin typeface="Montserrat"/>
                <a:ea typeface="Montserrat"/>
                <a:cs typeface="Montserrat"/>
                <a:sym typeface="Montserrat"/>
              </a:rPr>
              <a:t>POOLING</a:t>
            </a:r>
            <a:endParaRPr sz="1500" b="1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None/>
            </a:pPr>
            <a:r>
              <a:rPr lang="es-AR" sz="1500">
                <a:solidFill>
                  <a:srgbClr val="242C4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Reduce la dimensionalidad preservando la información relevante.</a:t>
            </a:r>
            <a:endParaRPr sz="1500">
              <a:solidFill>
                <a:srgbClr val="242C4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8" name="Google Shape;98;g3f318a60462_0_176"/>
          <p:cNvSpPr txBox="1"/>
          <p:nvPr/>
        </p:nvSpPr>
        <p:spPr>
          <a:xfrm>
            <a:off x="766175" y="4604325"/>
            <a:ext cx="2323500" cy="12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None/>
            </a:pPr>
            <a:r>
              <a:rPr lang="es-AR" sz="1500" b="1">
                <a:solidFill>
                  <a:srgbClr val="242C4F"/>
                </a:solidFill>
                <a:highlight>
                  <a:srgbClr val="E6BB62"/>
                </a:highlight>
                <a:latin typeface="Montserrat"/>
                <a:ea typeface="Montserrat"/>
                <a:cs typeface="Montserrat"/>
                <a:sym typeface="Montserrat"/>
              </a:rPr>
              <a:t>CLASIFICACIÓN</a:t>
            </a:r>
            <a:endParaRPr sz="1500" b="1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None/>
            </a:pPr>
            <a:r>
              <a:rPr lang="es-AR" sz="1500">
                <a:solidFill>
                  <a:srgbClr val="242C4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Capas densas interpretan las características extraídas.</a:t>
            </a:r>
            <a:endParaRPr sz="1500">
              <a:solidFill>
                <a:srgbClr val="242C4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9" name="Google Shape;99;g3f318a60462_0_176"/>
          <p:cNvSpPr txBox="1"/>
          <p:nvPr/>
        </p:nvSpPr>
        <p:spPr>
          <a:xfrm>
            <a:off x="3611875" y="5655475"/>
            <a:ext cx="8443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rgbClr val="242C4F"/>
                </a:solidFill>
                <a:highlight>
                  <a:srgbClr val="E6BB62"/>
                </a:highlight>
                <a:latin typeface="Montserrat"/>
                <a:ea typeface="Montserrat"/>
                <a:cs typeface="Montserrat"/>
                <a:sym typeface="Montserrat"/>
              </a:rPr>
              <a:t>Esto vale para los modelos de clasificación de imágenes.</a:t>
            </a:r>
            <a:endParaRPr sz="1500" b="1">
              <a:solidFill>
                <a:srgbClr val="242C4F"/>
              </a:solidFill>
              <a:highlight>
                <a:srgbClr val="E6BB62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g3f5c9f55043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776" y="139175"/>
            <a:ext cx="10076452" cy="5919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f318a60462_0_200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¿Cómo funcionan los modelos de detección de objetos?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10" name="Google Shape;110;g3f318a60462_0_2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35450"/>
            <a:ext cx="11887199" cy="33871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318a60462_0_209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¿Cómo funcionan los modelos de detección de objetos?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16" name="Google Shape;116;g3f318a60462_0_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238" y="1384851"/>
            <a:ext cx="9893512" cy="2819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f318a60462_0_209"/>
          <p:cNvSpPr txBox="1"/>
          <p:nvPr/>
        </p:nvSpPr>
        <p:spPr>
          <a:xfrm>
            <a:off x="2741100" y="4816375"/>
            <a:ext cx="60924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El </a:t>
            </a:r>
            <a:r>
              <a:rPr lang="es-AR" sz="1700">
                <a:solidFill>
                  <a:srgbClr val="242C4F"/>
                </a:solidFill>
                <a:highlight>
                  <a:srgbClr val="E6BB6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Backbone</a:t>
            </a: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 o estructura principal es similar a los modelos de clasificación. Acá se realiza la extracción de características.</a:t>
            </a:r>
            <a:endParaRPr sz="1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g3f318a60462_0_209"/>
          <p:cNvSpPr/>
          <p:nvPr/>
        </p:nvSpPr>
        <p:spPr>
          <a:xfrm>
            <a:off x="3201175" y="1630025"/>
            <a:ext cx="2032800" cy="25137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9" name="Google Shape;119;g3f318a60462_0_209"/>
          <p:cNvCxnSpPr/>
          <p:nvPr/>
        </p:nvCxnSpPr>
        <p:spPr>
          <a:xfrm flipH="1">
            <a:off x="3659450" y="3956750"/>
            <a:ext cx="217800" cy="823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318a60462_0_231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¿Cómo funcionan los modelos de detección de objetos?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25" name="Google Shape;125;g3f318a60462_0_2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238" y="1384851"/>
            <a:ext cx="9893512" cy="2819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f318a60462_0_231"/>
          <p:cNvSpPr/>
          <p:nvPr/>
        </p:nvSpPr>
        <p:spPr>
          <a:xfrm>
            <a:off x="5079600" y="1630025"/>
            <a:ext cx="2032800" cy="25137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7" name="Google Shape;127;g3f318a60462_0_231"/>
          <p:cNvCxnSpPr/>
          <p:nvPr/>
        </p:nvCxnSpPr>
        <p:spPr>
          <a:xfrm flipH="1">
            <a:off x="5619550" y="3956750"/>
            <a:ext cx="217800" cy="823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8" name="Google Shape;128;g3f318a60462_0_231"/>
          <p:cNvSpPr txBox="1"/>
          <p:nvPr/>
        </p:nvSpPr>
        <p:spPr>
          <a:xfrm>
            <a:off x="3167800" y="4781714"/>
            <a:ext cx="58338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En el </a:t>
            </a:r>
            <a:r>
              <a:rPr lang="es-AR" sz="1700">
                <a:solidFill>
                  <a:srgbClr val="242C4F"/>
                </a:solidFill>
                <a:highlight>
                  <a:srgbClr val="E6BB6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Neck o cuello</a:t>
            </a: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, la información en lugar de concentrarse se expande, y libera inputs para las capas de predicción.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318a60462_0_242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¿Cómo funcionan los modelos de detección de objetos?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34" name="Google Shape;134;g3f318a60462_0_2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238" y="1384851"/>
            <a:ext cx="9893512" cy="2819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f318a60462_0_242"/>
          <p:cNvSpPr/>
          <p:nvPr/>
        </p:nvSpPr>
        <p:spPr>
          <a:xfrm>
            <a:off x="6911350" y="1630025"/>
            <a:ext cx="2032800" cy="25137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36" name="Google Shape;136;g3f318a60462_0_242"/>
          <p:cNvCxnSpPr/>
          <p:nvPr/>
        </p:nvCxnSpPr>
        <p:spPr>
          <a:xfrm flipH="1">
            <a:off x="7378025" y="3873000"/>
            <a:ext cx="217800" cy="8238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" name="Google Shape;137;g3f318a60462_0_242"/>
          <p:cNvSpPr txBox="1"/>
          <p:nvPr/>
        </p:nvSpPr>
        <p:spPr>
          <a:xfrm>
            <a:off x="1915475" y="4680425"/>
            <a:ext cx="88131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Las </a:t>
            </a:r>
            <a:r>
              <a:rPr lang="es-AR" sz="1700">
                <a:solidFill>
                  <a:srgbClr val="242C4F"/>
                </a:solidFill>
                <a:highlight>
                  <a:srgbClr val="E6BB6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capas de predicción</a:t>
            </a: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 ensayan múltiples recortes de la imagen y realizan predicciones de clase. Con ese proceso mapean a qué clase pertenece cada recuadro de la imagen (%). </a:t>
            </a:r>
            <a:endParaRPr sz="17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Acá también se reubican las características aprendidas en la imagen original.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318a60462_0_252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¿Cómo funcionan los modelos de detección de objetos?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143" name="Google Shape;143;g3f318a60462_0_2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238" y="1384851"/>
            <a:ext cx="9893512" cy="2819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f318a60462_0_252"/>
          <p:cNvSpPr/>
          <p:nvPr/>
        </p:nvSpPr>
        <p:spPr>
          <a:xfrm>
            <a:off x="8795425" y="1628775"/>
            <a:ext cx="2032800" cy="25137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5" name="Google Shape;145;g3f318a60462_0_252"/>
          <p:cNvCxnSpPr/>
          <p:nvPr/>
        </p:nvCxnSpPr>
        <p:spPr>
          <a:xfrm flipH="1">
            <a:off x="8253650" y="3856625"/>
            <a:ext cx="1456500" cy="777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6" name="Google Shape;146;g3f318a60462_0_252"/>
          <p:cNvSpPr txBox="1"/>
          <p:nvPr/>
        </p:nvSpPr>
        <p:spPr>
          <a:xfrm>
            <a:off x="2151275" y="4595725"/>
            <a:ext cx="74619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En los modelos clásicos se realiza un paso más donde se </a:t>
            </a:r>
            <a:r>
              <a:rPr lang="es-AR" sz="1700">
                <a:solidFill>
                  <a:srgbClr val="242C4F"/>
                </a:solidFill>
                <a:highlight>
                  <a:srgbClr val="E6BB6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revisan las predicciones</a:t>
            </a: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 ganadoras y se definen recuadros.</a:t>
            </a:r>
            <a:endParaRPr sz="17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En este paso se gana precisión, sobre todo en imágenes con figuras ocultas.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3f318a60462_0_3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9675" y="162525"/>
            <a:ext cx="8777451" cy="581415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f318a60462_0_304"/>
          <p:cNvSpPr txBox="1"/>
          <p:nvPr/>
        </p:nvSpPr>
        <p:spPr>
          <a:xfrm>
            <a:off x="766175" y="441500"/>
            <a:ext cx="10232100" cy="9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Aparece YOLO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26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Todo en una sola pasada.</a:t>
            </a:r>
            <a:endParaRPr sz="26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318a60462_0_275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Aparece YOLO - You Only Look Once (2016)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58" name="Google Shape;158;g3f318a60462_0_275"/>
          <p:cNvSpPr txBox="1"/>
          <p:nvPr/>
        </p:nvSpPr>
        <p:spPr>
          <a:xfrm>
            <a:off x="1359600" y="4868700"/>
            <a:ext cx="94728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La estructura principal de la red se mantiene. Podemos observar el kernel o filtro que se usa para pasar de una capa a otra. </a:t>
            </a:r>
            <a:endParaRPr sz="17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En </a:t>
            </a:r>
            <a:r>
              <a:rPr lang="es-AR" sz="1700">
                <a:solidFill>
                  <a:srgbClr val="242C4F"/>
                </a:solidFill>
                <a:highlight>
                  <a:srgbClr val="E6BB6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YOLO</a:t>
            </a: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 la diferencia con los modelos clásicos es que simplifica el paso de predicción.</a:t>
            </a:r>
            <a:endParaRPr sz="17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9" name="Google Shape;159;g3f318a60462_0_2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0912" y="1392725"/>
            <a:ext cx="7270175" cy="308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318a60462_0_284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Aparece YOLO - You Only Look Once (2016)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65" name="Google Shape;165;g3f318a60462_0_284"/>
          <p:cNvSpPr txBox="1"/>
          <p:nvPr/>
        </p:nvSpPr>
        <p:spPr>
          <a:xfrm>
            <a:off x="1359600" y="4868700"/>
            <a:ext cx="94728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Este modelo de YOLO primero divide la imagen en una </a:t>
            </a:r>
            <a:r>
              <a:rPr lang="es-AR" sz="1700">
                <a:solidFill>
                  <a:srgbClr val="242C4F"/>
                </a:solidFill>
                <a:highlight>
                  <a:srgbClr val="E6BB6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grilla de 7x7</a:t>
            </a: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. Cada grilla de la celda será responsable de la detección de los objetos cuyo centro caiga dentro de la celda. Allí cada celda predice 2 recuadros y clasifica los objetos entre 20 posibles categorías.</a:t>
            </a:r>
            <a:endParaRPr sz="17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6" name="Google Shape;166;g3f318a60462_0_2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0912" y="1392725"/>
            <a:ext cx="7270175" cy="3085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f318a60462_0_295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Aparece YOLO - You Only Look Once (2016)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72" name="Google Shape;172;g3f318a60462_0_295"/>
          <p:cNvSpPr txBox="1"/>
          <p:nvPr/>
        </p:nvSpPr>
        <p:spPr>
          <a:xfrm>
            <a:off x="1359600" y="4868700"/>
            <a:ext cx="94728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La predicción se realiza en el último bloque 7x7x30. Allí cada celda predice 2 recuadros y clasifica los objetos entre 20 posibles categorías.</a:t>
            </a:r>
            <a:endParaRPr sz="17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Cada recuadro posee 5 características: x, y, alto, ancho y confianza en la clase predicha.</a:t>
            </a:r>
            <a:endParaRPr sz="17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3" name="Google Shape;173;g3f318a60462_0_2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0912" y="1392725"/>
            <a:ext cx="7270175" cy="3085744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g3f318a60462_0_295"/>
          <p:cNvSpPr/>
          <p:nvPr/>
        </p:nvSpPr>
        <p:spPr>
          <a:xfrm>
            <a:off x="8931475" y="2482750"/>
            <a:ext cx="939000" cy="1139100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5" name="Google Shape;175;g3f318a60462_0_295"/>
          <p:cNvCxnSpPr/>
          <p:nvPr/>
        </p:nvCxnSpPr>
        <p:spPr>
          <a:xfrm flipH="1">
            <a:off x="8146450" y="3425450"/>
            <a:ext cx="1106400" cy="14553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318a60462_0_334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YOLO8 (2023)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1" name="Google Shape;181;g3f318a60462_0_334"/>
          <p:cNvSpPr txBox="1"/>
          <p:nvPr/>
        </p:nvSpPr>
        <p:spPr>
          <a:xfrm>
            <a:off x="0" y="-472589"/>
            <a:ext cx="2461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None/>
            </a:pPr>
            <a:r>
              <a:rPr lang="es-AR" sz="2100" b="1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OPCION 2</a:t>
            </a:r>
            <a:endParaRPr sz="2100" b="1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g3f318a60462_0_334"/>
          <p:cNvSpPr txBox="1"/>
          <p:nvPr/>
        </p:nvSpPr>
        <p:spPr>
          <a:xfrm>
            <a:off x="18539665" y="2855225"/>
            <a:ext cx="282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2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Además, con una estructura base se elaboran varios modelos que varían solo en la repetición de módulos.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g3f318a60462_0_3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675" y="1203913"/>
            <a:ext cx="8583087" cy="3369173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g3f318a60462_0_334"/>
          <p:cNvSpPr txBox="1"/>
          <p:nvPr/>
        </p:nvSpPr>
        <p:spPr>
          <a:xfrm>
            <a:off x="21536756" y="2855225"/>
            <a:ext cx="2820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2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Esto permite modelos más livianos para dispositivos con menor capacidad, o modelos más grandes con mayor precisión, todos beneficiándose de los avances en la arquitectura.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g3f318a60462_0_334"/>
          <p:cNvSpPr txBox="1"/>
          <p:nvPr/>
        </p:nvSpPr>
        <p:spPr>
          <a:xfrm>
            <a:off x="1359600" y="4868700"/>
            <a:ext cx="9472800" cy="8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Entre las versiones más recientes de YOLO se destaca la </a:t>
            </a:r>
            <a:r>
              <a:rPr lang="es-AR" sz="1700">
                <a:solidFill>
                  <a:srgbClr val="242C4F"/>
                </a:solidFill>
                <a:highlight>
                  <a:srgbClr val="E6BB6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versión 8</a:t>
            </a: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, que amplía sus capacidades al ofrecer de forma nativa no solo la detección de objetos mediante recuadros con coordenadas , sino también </a:t>
            </a:r>
            <a:r>
              <a:rPr lang="es-AR" sz="1700">
                <a:solidFill>
                  <a:srgbClr val="242C4F"/>
                </a:solidFill>
                <a:highlight>
                  <a:srgbClr val="E6BB6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segmentación y detección de pose.</a:t>
            </a:r>
            <a:endParaRPr sz="1700">
              <a:solidFill>
                <a:srgbClr val="242C4F"/>
              </a:solidFill>
              <a:highlight>
                <a:srgbClr val="E6BB62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318a60462_0_346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YOLO8 (2023)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91" name="Google Shape;191;g3f318a60462_0_346"/>
          <p:cNvSpPr txBox="1"/>
          <p:nvPr/>
        </p:nvSpPr>
        <p:spPr>
          <a:xfrm>
            <a:off x="0" y="-472589"/>
            <a:ext cx="2461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None/>
            </a:pPr>
            <a:r>
              <a:rPr lang="es-AR" sz="2100" b="1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OPCION 2</a:t>
            </a:r>
            <a:endParaRPr sz="2100" b="1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g3f318a60462_0_346"/>
          <p:cNvSpPr txBox="1"/>
          <p:nvPr/>
        </p:nvSpPr>
        <p:spPr>
          <a:xfrm>
            <a:off x="18539665" y="2855225"/>
            <a:ext cx="282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2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Además, con una estructura base se elaboran varios modelos que varían solo en la repetición de módulos.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3" name="Google Shape;193;g3f318a60462_0_3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675" y="1203913"/>
            <a:ext cx="8583087" cy="3369173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f318a60462_0_346"/>
          <p:cNvSpPr txBox="1"/>
          <p:nvPr/>
        </p:nvSpPr>
        <p:spPr>
          <a:xfrm>
            <a:off x="21536756" y="2855225"/>
            <a:ext cx="2820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2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Esto permite modelos más livianos para dispositivos con menor capacidad, o modelos más grandes con mayor precisión, todos beneficiándose de los avances en la arquitectura.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g3f318a60462_0_346"/>
          <p:cNvSpPr txBox="1"/>
          <p:nvPr/>
        </p:nvSpPr>
        <p:spPr>
          <a:xfrm>
            <a:off x="1359600" y="4816350"/>
            <a:ext cx="9472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Este modelo prescinde de “anchors”, sugerencias de recuadros posibles como input del usuario que requerían modelos anteriores lo que les da más flexibilidad.</a:t>
            </a:r>
            <a:endParaRPr sz="17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318a60462_0_356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YOLO8 (2023)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1" name="Google Shape;201;g3f318a60462_0_356"/>
          <p:cNvSpPr txBox="1"/>
          <p:nvPr/>
        </p:nvSpPr>
        <p:spPr>
          <a:xfrm>
            <a:off x="0" y="-472589"/>
            <a:ext cx="2461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None/>
            </a:pPr>
            <a:r>
              <a:rPr lang="es-AR" sz="2100" b="1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OPCION 2</a:t>
            </a:r>
            <a:endParaRPr sz="2100" b="1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g3f318a60462_0_356"/>
          <p:cNvSpPr txBox="1"/>
          <p:nvPr/>
        </p:nvSpPr>
        <p:spPr>
          <a:xfrm>
            <a:off x="18539665" y="2855225"/>
            <a:ext cx="282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2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Además, con una estructura base se elaboran varios modelos que varían solo en la repetición de módulos.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3" name="Google Shape;203;g3f318a60462_0_3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0675" y="1203913"/>
            <a:ext cx="8583087" cy="336917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f318a60462_0_356"/>
          <p:cNvSpPr txBox="1"/>
          <p:nvPr/>
        </p:nvSpPr>
        <p:spPr>
          <a:xfrm>
            <a:off x="21536756" y="2855225"/>
            <a:ext cx="2820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2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Esto permite modelos más livianos para dispositivos con menor capacidad, o modelos más grandes con mayor precisión, todos beneficiándose de los avances en la arquitectura.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g3f318a60462_0_356"/>
          <p:cNvSpPr txBox="1"/>
          <p:nvPr/>
        </p:nvSpPr>
        <p:spPr>
          <a:xfrm>
            <a:off x="1359600" y="4868700"/>
            <a:ext cx="94728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7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Además, con una estructura base se elaboran varios modelos que varían solo en la repetición de módulos. Esto permite modelos más livianos para dispositivos con menor capacidad, o modelos más grandes con mayor precisión, todos beneficiándose de los avances en la arquitectura.</a:t>
            </a:r>
            <a:endParaRPr sz="17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318a60462_0_366"/>
          <p:cNvSpPr txBox="1"/>
          <p:nvPr/>
        </p:nvSpPr>
        <p:spPr>
          <a:xfrm>
            <a:off x="766175" y="441500"/>
            <a:ext cx="10232100" cy="4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Lora"/>
              <a:buNone/>
            </a:pPr>
            <a:r>
              <a:rPr lang="es-AR" sz="3033" b="1">
                <a:solidFill>
                  <a:srgbClr val="252C4F"/>
                </a:solidFill>
                <a:latin typeface="Lora"/>
                <a:ea typeface="Lora"/>
                <a:cs typeface="Lora"/>
                <a:sym typeface="Lora"/>
              </a:rPr>
              <a:t>YOLOv11, YOLOv26 (2023, 2026)</a:t>
            </a:r>
            <a:endParaRPr sz="3033" b="1">
              <a:solidFill>
                <a:srgbClr val="252C4F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1" name="Google Shape;211;g3f318a60462_0_366"/>
          <p:cNvSpPr txBox="1"/>
          <p:nvPr/>
        </p:nvSpPr>
        <p:spPr>
          <a:xfrm>
            <a:off x="0" y="-472589"/>
            <a:ext cx="2461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ontserrat Medium"/>
              <a:buNone/>
            </a:pPr>
            <a:r>
              <a:rPr lang="es-AR" sz="2100" b="1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OPCION 2</a:t>
            </a:r>
            <a:endParaRPr sz="2100" b="1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g3f318a60462_0_366"/>
          <p:cNvSpPr txBox="1"/>
          <p:nvPr/>
        </p:nvSpPr>
        <p:spPr>
          <a:xfrm>
            <a:off x="18539665" y="2855225"/>
            <a:ext cx="2820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2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Además, con una estructura base se elaboran varios modelos que varían solo en la repetición de módulos.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g3f318a60462_0_366"/>
          <p:cNvSpPr txBox="1"/>
          <p:nvPr/>
        </p:nvSpPr>
        <p:spPr>
          <a:xfrm>
            <a:off x="21536756" y="2855225"/>
            <a:ext cx="28200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2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Esto permite modelos más livianos para dispositivos con menor capacidad, o modelos más grandes con mayor precisión, todos beneficiándose de los avances en la arquitectura.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4" name="Google Shape;214;g3f318a60462_0_3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838" y="1173925"/>
            <a:ext cx="9312769" cy="365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f318a60462_0_366"/>
          <p:cNvSpPr txBox="1"/>
          <p:nvPr/>
        </p:nvSpPr>
        <p:spPr>
          <a:xfrm>
            <a:off x="173375" y="5095150"/>
            <a:ext cx="3762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Montserrat"/>
              <a:buNone/>
            </a:pPr>
            <a:r>
              <a:rPr lang="es-AR" sz="12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Los nuevos modelos de YOLO han incorporado mejoras tanto en </a:t>
            </a:r>
            <a:r>
              <a:rPr lang="es-AR" sz="1200">
                <a:solidFill>
                  <a:srgbClr val="242C4F"/>
                </a:solidFill>
                <a:highlight>
                  <a:srgbClr val="E6BB6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precisión</a:t>
            </a:r>
            <a:r>
              <a:rPr lang="es-AR" sz="12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 como en </a:t>
            </a:r>
            <a:r>
              <a:rPr lang="es-AR" sz="1200">
                <a:solidFill>
                  <a:srgbClr val="242C4F"/>
                </a:solidFill>
                <a:highlight>
                  <a:srgbClr val="E6BB62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performance.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g3f318a60462_0_366"/>
          <p:cNvSpPr txBox="1"/>
          <p:nvPr/>
        </p:nvSpPr>
        <p:spPr>
          <a:xfrm>
            <a:off x="4171839" y="5095150"/>
            <a:ext cx="3762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2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Los modelos actuales admiten zero-shot detection que significa que pueden reconocer objetos para los que no fueron entrenados en base a un prompt.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g3f318a60462_0_366"/>
          <p:cNvSpPr txBox="1"/>
          <p:nvPr/>
        </p:nvSpPr>
        <p:spPr>
          <a:xfrm>
            <a:off x="8170272" y="5095150"/>
            <a:ext cx="37623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AR" sz="1200">
                <a:solidFill>
                  <a:srgbClr val="242C4F"/>
                </a:solidFill>
                <a:latin typeface="Montserrat"/>
                <a:ea typeface="Montserrat"/>
                <a:cs typeface="Montserrat"/>
                <a:sym typeface="Montserrat"/>
              </a:rPr>
              <a:t>No todos los modelos de YOLO tienen el mismo tipo de licencia de uso, por lo que hay que prestar atención si uno quiere hacer uso comercial de los mismos,</a:t>
            </a:r>
            <a:endParaRPr sz="1200">
              <a:solidFill>
                <a:srgbClr val="242C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318a60462_0_392"/>
          <p:cNvSpPr/>
          <p:nvPr/>
        </p:nvSpPr>
        <p:spPr>
          <a:xfrm>
            <a:off x="0" y="0"/>
            <a:ext cx="12192000" cy="152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3" name="Google Shape;223;g3f318a60462_0_392"/>
          <p:cNvSpPr txBox="1"/>
          <p:nvPr/>
        </p:nvSpPr>
        <p:spPr>
          <a:xfrm>
            <a:off x="1111550" y="467104"/>
            <a:ext cx="72636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3866" marR="33866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100" b="1" i="0" u="none" strike="noStrike" cap="none" dirty="0">
                <a:solidFill>
                  <a:srgbClr val="282A4E"/>
                </a:solidFill>
                <a:latin typeface="Lora"/>
                <a:ea typeface="Lora"/>
                <a:cs typeface="Lora"/>
                <a:sym typeface="Lora"/>
              </a:rPr>
              <a:t>Parte pr</a:t>
            </a:r>
            <a:r>
              <a:rPr lang="es-AR" sz="3100" b="1" dirty="0">
                <a:solidFill>
                  <a:srgbClr val="282A4E"/>
                </a:solidFill>
                <a:latin typeface="Lora"/>
                <a:ea typeface="Lora"/>
                <a:cs typeface="Lora"/>
                <a:sym typeface="Lora"/>
              </a:rPr>
              <a:t>áctica</a:t>
            </a:r>
            <a:endParaRPr sz="3100" b="0" i="0" u="none" strike="noStrike" cap="none" dirty="0">
              <a:solidFill>
                <a:srgbClr val="282A4E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 dirty="0">
              <a:solidFill>
                <a:srgbClr val="282A4E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 b="1" i="0" u="none" strike="noStrike" cap="none" dirty="0">
              <a:solidFill>
                <a:srgbClr val="282A4E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4" name="Google Shape;224;g3f318a60462_0_392"/>
          <p:cNvSpPr txBox="1"/>
          <p:nvPr/>
        </p:nvSpPr>
        <p:spPr>
          <a:xfrm>
            <a:off x="949650" y="1992304"/>
            <a:ext cx="10292700" cy="93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i="0" u="none" strike="noStrike" cap="none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09585" lvl="0" indent="-423323">
              <a:buClr>
                <a:srgbClr val="E6BB62"/>
              </a:buClr>
              <a:buSzPts val="1500"/>
              <a:buFont typeface="Montserrat"/>
              <a:buChar char="●"/>
            </a:pPr>
            <a:r>
              <a:rPr lang="es-AR" sz="1500" dirty="0">
                <a:solidFill>
                  <a:srgbClr val="282A4E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https://colab.research.google.com/drive/1Q8dDjvxMMbwY_S-eT2RARtsFUrEcuX-6?usp=sharing</a:t>
            </a:r>
            <a:endParaRPr lang="es-AR" sz="1500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>
          <a:extLst>
            <a:ext uri="{FF2B5EF4-FFF2-40B4-BE49-F238E27FC236}">
              <a16:creationId xmlns:a16="http://schemas.microsoft.com/office/drawing/2014/main" id="{AF7424B2-DABA-6BF4-6608-0A36DA5DD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318a60462_0_392">
            <a:extLst>
              <a:ext uri="{FF2B5EF4-FFF2-40B4-BE49-F238E27FC236}">
                <a16:creationId xmlns:a16="http://schemas.microsoft.com/office/drawing/2014/main" id="{C22B4503-7B5F-193C-4FA6-27B504F08EDA}"/>
              </a:ext>
            </a:extLst>
          </p:cNvPr>
          <p:cNvSpPr/>
          <p:nvPr/>
        </p:nvSpPr>
        <p:spPr>
          <a:xfrm>
            <a:off x="0" y="0"/>
            <a:ext cx="12192000" cy="15252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67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3" name="Google Shape;223;g3f318a60462_0_392">
            <a:extLst>
              <a:ext uri="{FF2B5EF4-FFF2-40B4-BE49-F238E27FC236}">
                <a16:creationId xmlns:a16="http://schemas.microsoft.com/office/drawing/2014/main" id="{8452F3E6-4534-27BF-1566-320C598917D0}"/>
              </a:ext>
            </a:extLst>
          </p:cNvPr>
          <p:cNvSpPr txBox="1"/>
          <p:nvPr/>
        </p:nvSpPr>
        <p:spPr>
          <a:xfrm>
            <a:off x="1111550" y="467104"/>
            <a:ext cx="72636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3866" marR="33866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3100" b="1">
                <a:solidFill>
                  <a:srgbClr val="282A4E"/>
                </a:solidFill>
                <a:latin typeface="Lora"/>
                <a:ea typeface="Lora"/>
                <a:cs typeface="Lora"/>
                <a:sym typeface="Lora"/>
              </a:rPr>
              <a:t>Bibliografía</a:t>
            </a:r>
            <a:endParaRPr sz="3100" b="0" i="0" u="none" strike="noStrike" cap="none">
              <a:solidFill>
                <a:srgbClr val="282A4E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 b="0" i="0" u="none" strike="noStrike" cap="none">
              <a:solidFill>
                <a:srgbClr val="282A4E"/>
              </a:solidFill>
              <a:latin typeface="Lora"/>
              <a:ea typeface="Lora"/>
              <a:cs typeface="Lora"/>
              <a:sym typeface="Lor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100" b="1" i="0" u="none" strike="noStrike" cap="none">
              <a:solidFill>
                <a:srgbClr val="282A4E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24" name="Google Shape;224;g3f318a60462_0_392">
            <a:extLst>
              <a:ext uri="{FF2B5EF4-FFF2-40B4-BE49-F238E27FC236}">
                <a16:creationId xmlns:a16="http://schemas.microsoft.com/office/drawing/2014/main" id="{775DB55C-F1F8-D74C-60FB-712C2ED70A5D}"/>
              </a:ext>
            </a:extLst>
          </p:cNvPr>
          <p:cNvSpPr txBox="1"/>
          <p:nvPr/>
        </p:nvSpPr>
        <p:spPr>
          <a:xfrm>
            <a:off x="949650" y="1992304"/>
            <a:ext cx="10292700" cy="278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60958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i="0" u="none" strike="noStrike" cap="none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09585" marR="0" lvl="0" indent="-423323" algn="l" rtl="0">
              <a:spcBef>
                <a:spcPts val="0"/>
              </a:spcBef>
              <a:spcAft>
                <a:spcPts val="0"/>
              </a:spcAft>
              <a:buClr>
                <a:srgbClr val="E6BB62"/>
              </a:buClr>
              <a:buSzPts val="1500"/>
              <a:buFont typeface="Montserrat"/>
              <a:buChar char="●"/>
            </a:pPr>
            <a:r>
              <a:rPr lang="es-AR" sz="1500" dirty="0">
                <a:solidFill>
                  <a:srgbClr val="282A4E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https://blog.roboflow.com/yolo-object-detection/#overview-of-yolo-family-of-models</a:t>
            </a:r>
            <a:endParaRPr sz="1500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09585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i="0" u="none" strike="noStrike" cap="none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09585" marR="0" lvl="0" indent="-423323" algn="l" rtl="0">
              <a:spcBef>
                <a:spcPts val="0"/>
              </a:spcBef>
              <a:spcAft>
                <a:spcPts val="0"/>
              </a:spcAft>
              <a:buClr>
                <a:srgbClr val="E6BB62"/>
              </a:buClr>
              <a:buSzPts val="1500"/>
              <a:buFont typeface="Montserrat"/>
              <a:buChar char="●"/>
            </a:pPr>
            <a:r>
              <a:rPr lang="es-AR" sz="1500" dirty="0">
                <a:solidFill>
                  <a:srgbClr val="282A4E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https://docs.ultralytics.com/es/models/yolo26</a:t>
            </a:r>
            <a:endParaRPr sz="1500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09585" marR="0" lvl="0" indent="-42332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BB62"/>
              </a:buClr>
              <a:buSzPts val="1500"/>
              <a:buFont typeface="Montserrat"/>
              <a:buChar char="●"/>
            </a:pPr>
            <a:r>
              <a:rPr lang="es-AR" sz="1500" dirty="0">
                <a:solidFill>
                  <a:srgbClr val="282A4E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https://www.tensorflow.org/tutorials/images/cnn?hl=es-419</a:t>
            </a:r>
            <a:br>
              <a:rPr lang="es-AR" sz="1500" dirty="0">
                <a:solidFill>
                  <a:srgbClr val="282A4E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500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09585" marR="0" lvl="0" indent="-423323" algn="l" rtl="0">
              <a:spcBef>
                <a:spcPts val="0"/>
              </a:spcBef>
              <a:spcAft>
                <a:spcPts val="0"/>
              </a:spcAft>
              <a:buClr>
                <a:srgbClr val="E6BB62"/>
              </a:buClr>
              <a:buSzPts val="1500"/>
              <a:buFont typeface="Montserrat"/>
              <a:buChar char="●"/>
            </a:pPr>
            <a:r>
              <a:rPr lang="es-AR" sz="1500" dirty="0">
                <a:solidFill>
                  <a:srgbClr val="282A4E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https://learnopencv.com/understanding-convolutional-neural-networks-cnn/</a:t>
            </a:r>
            <a:endParaRPr lang="es-AR" sz="1500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09585" marR="0" lvl="0" indent="-423323" algn="l" rtl="0">
              <a:spcBef>
                <a:spcPts val="0"/>
              </a:spcBef>
              <a:spcAft>
                <a:spcPts val="0"/>
              </a:spcAft>
              <a:buClr>
                <a:srgbClr val="E6BB62"/>
              </a:buClr>
              <a:buSzPts val="1500"/>
              <a:buFont typeface="Montserrat"/>
              <a:buChar char="●"/>
            </a:pPr>
            <a:endParaRPr lang="es-AR" sz="1500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609585" lvl="0" indent="-423323">
              <a:buClr>
                <a:srgbClr val="E6BB62"/>
              </a:buClr>
              <a:buSzPts val="1500"/>
              <a:buFont typeface="Montserrat"/>
              <a:buChar char="●"/>
            </a:pPr>
            <a:r>
              <a:rPr lang="es-AR" sz="1500" dirty="0">
                <a:solidFill>
                  <a:srgbClr val="282A4E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https://ai.meta.com/research/sam3</a:t>
            </a:r>
            <a:endParaRPr sz="1500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282A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251257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0"/>
          <p:cNvSpPr/>
          <p:nvPr/>
        </p:nvSpPr>
        <p:spPr>
          <a:xfrm>
            <a:off x="3220142" y="5707720"/>
            <a:ext cx="4944900" cy="387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|  protocolo@inti.gob.ar  |  </a:t>
            </a:r>
            <a:r>
              <a:rPr lang="es-AR"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www.inti.gob.ar</a:t>
            </a:r>
            <a:endParaRPr/>
          </a:p>
        </p:txBody>
      </p:sp>
      <p:pic>
        <p:nvPicPr>
          <p:cNvPr id="230" name="Google Shape;23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6664" y="5754787"/>
            <a:ext cx="1933575" cy="3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50"/>
          <p:cNvSpPr txBox="1"/>
          <p:nvPr/>
        </p:nvSpPr>
        <p:spPr>
          <a:xfrm>
            <a:off x="0" y="1648182"/>
            <a:ext cx="12192000" cy="9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Lora Medium"/>
              <a:buNone/>
            </a:pPr>
            <a:r>
              <a:rPr lang="es-AR" sz="5533">
                <a:solidFill>
                  <a:srgbClr val="FFFFFF"/>
                </a:solidFill>
                <a:latin typeface="Lora Medium"/>
                <a:ea typeface="Lora Medium"/>
                <a:cs typeface="Lora Medium"/>
                <a:sym typeface="Lora Medium"/>
              </a:rPr>
              <a:t>¡</a:t>
            </a:r>
            <a:r>
              <a:rPr lang="es-AR" sz="5533" b="0" i="0" u="none" strike="noStrike" cap="none">
                <a:solidFill>
                  <a:srgbClr val="FFFFFF"/>
                </a:solidFill>
                <a:latin typeface="Lora Medium"/>
                <a:ea typeface="Lora Medium"/>
                <a:cs typeface="Lora Medium"/>
                <a:sym typeface="Lora Medium"/>
              </a:rPr>
              <a:t>Muchas gracias!</a:t>
            </a:r>
            <a:endParaRPr sz="5533" b="0" i="0" u="none" strike="noStrike" cap="none">
              <a:solidFill>
                <a:srgbClr val="FFFFFF"/>
              </a:solidFill>
              <a:latin typeface="Lora Medium"/>
              <a:ea typeface="Lora Medium"/>
              <a:cs typeface="Lora Medium"/>
              <a:sym typeface="Lora Medium"/>
            </a:endParaRPr>
          </a:p>
        </p:txBody>
      </p:sp>
      <p:sp>
        <p:nvSpPr>
          <p:cNvPr id="232" name="Google Shape;232;p50"/>
          <p:cNvSpPr/>
          <p:nvPr/>
        </p:nvSpPr>
        <p:spPr>
          <a:xfrm>
            <a:off x="0" y="2766232"/>
            <a:ext cx="12192000" cy="13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8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Lic en Estrategia Contemporánea, Juan Valle.</a:t>
            </a:r>
            <a:endParaRPr sz="18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INSTITUTO NACIONAL DE TECNOLOGÍA INDUSTRIAL</a:t>
            </a:r>
            <a:endParaRPr sz="1600"/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6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jfgonzalez@inti.gob.ar</a:t>
            </a:r>
            <a:endParaRPr sz="16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PPT BASE MINISTERIOS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1034</Words>
  <Application>Microsoft Office PowerPoint</Application>
  <PresentationFormat>Panorámica</PresentationFormat>
  <Paragraphs>85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1" baseType="lpstr">
      <vt:lpstr>Montserrat</vt:lpstr>
      <vt:lpstr>Montserrat Medium</vt:lpstr>
      <vt:lpstr>Lora</vt:lpstr>
      <vt:lpstr>Lora Medium</vt:lpstr>
      <vt:lpstr>Calibri</vt:lpstr>
      <vt:lpstr>Arial</vt:lpstr>
      <vt:lpstr>Verdana</vt:lpstr>
      <vt:lpstr>1_PPT BASE MINISTERIOS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Maria Movsichoff</dc:creator>
  <cp:lastModifiedBy>Juan Francisco González Valle López</cp:lastModifiedBy>
  <cp:revision>4</cp:revision>
  <dcterms:created xsi:type="dcterms:W3CDTF">2023-11-03T22:54:22Z</dcterms:created>
  <dcterms:modified xsi:type="dcterms:W3CDTF">2026-09-09T16:52:16Z</dcterms:modified>
</cp:coreProperties>
</file>