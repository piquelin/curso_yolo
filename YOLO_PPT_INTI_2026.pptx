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807" r:id="rId3"/>
  </p:sldMasterIdLst>
  <p:notesMasterIdLst>
    <p:notesMasterId r:id="rId15"/>
  </p:notesMasterIdLst>
  <p:sldIdLst>
    <p:sldId id="1409" r:id="rId4"/>
    <p:sldId id="1502" r:id="rId5"/>
    <p:sldId id="1503" r:id="rId6"/>
    <p:sldId id="1504" r:id="rId7"/>
    <p:sldId id="1506" r:id="rId8"/>
    <p:sldId id="1505" r:id="rId9"/>
    <p:sldId id="1507" r:id="rId10"/>
    <p:sldId id="1508" r:id="rId11"/>
    <p:sldId id="1509" r:id="rId12"/>
    <p:sldId id="1511" r:id="rId13"/>
    <p:sldId id="273" r:id="rId1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lantilla" id="{D06CAF8A-2316-4BA9-A00C-05617C43ED12}">
          <p14:sldIdLst>
            <p14:sldId id="1409"/>
            <p14:sldId id="1502"/>
            <p14:sldId id="1503"/>
            <p14:sldId id="1504"/>
            <p14:sldId id="1506"/>
            <p14:sldId id="1505"/>
            <p14:sldId id="1507"/>
            <p14:sldId id="1508"/>
            <p14:sldId id="1509"/>
            <p14:sldId id="1511"/>
            <p14:sldId id="273"/>
          </p14:sldIdLst>
        </p14:section>
      </p14:sectionLst>
    </p:ext>
    <p:ext uri="{EFAFB233-063F-42B5-8137-9DF3F51BA10A}">
      <p15:sldGuideLst xmlns:p15="http://schemas.microsoft.com/office/powerpoint/2012/main">
        <p15:guide id="1" pos="4112" userDrawn="1">
          <p15:clr>
            <a:srgbClr val="A4A3A4"/>
          </p15:clr>
        </p15:guide>
        <p15:guide id="2" orient="horz" pos="1026" userDrawn="1">
          <p15:clr>
            <a:srgbClr val="A4A3A4"/>
          </p15:clr>
        </p15:guide>
        <p15:guide id="3" pos="7378" userDrawn="1">
          <p15:clr>
            <a:srgbClr val="A4A3A4"/>
          </p15:clr>
        </p15:guide>
        <p15:guide id="4" orient="horz" pos="4088"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8E96A83-DF86-E7EC-39EE-1616178AF4D4}" name="Facundo Grodmann" initials="FG" userId="S::fgrodmann@inti.gob.ar::0040686e-e263-4460-9fd2-cc112db97f41" providerId="AD"/>
  <p188:author id="{07FC85BA-FB54-EBAB-F89F-B79A06075F1B}" name="Claudio Javier Berterreix" initials="CB" userId="S::cberterreix@inti.gob.ar::45fc9efa-5568-4677-a320-f19959cb6c28" providerId="AD"/>
  <p188:author id="{328C08F2-D887-D217-904C-BB5DC387F805}" name="María Julieta Comin" initials="MC" userId="S::jcomin@inti.gob.ar::84232da5-74f2-4211-b147-9c75496adc89"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42C4F"/>
    <a:srgbClr val="FFFFFF"/>
    <a:srgbClr val="E6BB62"/>
    <a:srgbClr val="5B9BD5"/>
    <a:srgbClr val="5F86CD"/>
    <a:srgbClr val="003087"/>
    <a:srgbClr val="00B6E3"/>
    <a:srgbClr val="3C6AB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6941" autoAdjust="0"/>
    <p:restoredTop sz="77240" autoAdjust="0"/>
  </p:normalViewPr>
  <p:slideViewPr>
    <p:cSldViewPr snapToGrid="0">
      <p:cViewPr varScale="1">
        <p:scale>
          <a:sx n="85" d="100"/>
          <a:sy n="85" d="100"/>
        </p:scale>
        <p:origin x="2052" y="90"/>
      </p:cViewPr>
      <p:guideLst>
        <p:guide pos="4112"/>
        <p:guide orient="horz" pos="1026"/>
        <p:guide pos="7378"/>
        <p:guide orient="horz" pos="4088"/>
      </p:guideLst>
    </p:cSldViewPr>
  </p:slideViewPr>
  <p:notesTextViewPr>
    <p:cViewPr>
      <p:scale>
        <a:sx n="125" d="100"/>
        <a:sy n="125" d="100"/>
      </p:scale>
      <p:origin x="0" y="0"/>
    </p:cViewPr>
  </p:notesTextViewPr>
  <p:notesViewPr>
    <p:cSldViewPr snapToGrid="0">
      <p:cViewPr varScale="1">
        <p:scale>
          <a:sx n="89" d="100"/>
          <a:sy n="89" d="100"/>
        </p:scale>
        <p:origin x="4114" y="96"/>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5.xml"/><Relationship Id="rId13" Type="http://schemas.openxmlformats.org/officeDocument/2006/relationships/slide" Target="slides/slide10.xml"/><Relationship Id="rId18" Type="http://schemas.openxmlformats.org/officeDocument/2006/relationships/theme" Target="theme/theme1.xml"/><Relationship Id="rId3" Type="http://schemas.openxmlformats.org/officeDocument/2006/relationships/slideMaster" Target="slideMasters/slideMaster1.xml"/><Relationship Id="rId7" Type="http://schemas.openxmlformats.org/officeDocument/2006/relationships/slide" Target="slides/slide4.xml"/><Relationship Id="rId12" Type="http://schemas.openxmlformats.org/officeDocument/2006/relationships/slide" Target="slides/slide9.xml"/><Relationship Id="rId17"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presProps" Target="presProps.xml"/><Relationship Id="rId20" Type="http://schemas.microsoft.com/office/2018/10/relationships/authors" Target="authors.xml"/><Relationship Id="rId1" Type="http://schemas.openxmlformats.org/officeDocument/2006/relationships/customXml" Target="../customXml/item1.xml"/><Relationship Id="rId6" Type="http://schemas.openxmlformats.org/officeDocument/2006/relationships/slide" Target="slides/slide3.xml"/><Relationship Id="rId11" Type="http://schemas.openxmlformats.org/officeDocument/2006/relationships/slide" Target="slides/slide8.xml"/><Relationship Id="rId5" Type="http://schemas.openxmlformats.org/officeDocument/2006/relationships/slide" Target="slides/slide2.xml"/><Relationship Id="rId15" Type="http://schemas.openxmlformats.org/officeDocument/2006/relationships/notesMaster" Target="notesMasters/notesMaster1.xml"/><Relationship Id="rId10" Type="http://schemas.openxmlformats.org/officeDocument/2006/relationships/slide" Target="slides/slide7.xml"/><Relationship Id="rId19" Type="http://schemas.openxmlformats.org/officeDocument/2006/relationships/tableStyles" Target="tableStyles.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C147120-137B-4FE5-8A65-C61A337FAF8B}" type="datetimeFigureOut">
              <a:rPr lang="en-US" smtClean="0"/>
              <a:t>7/3/2026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0BCD3D-AC8A-491C-8B8A-DED43D556172}" type="slidenum">
              <a:rPr lang="en-US" smtClean="0"/>
              <a:t>‹Nº›</a:t>
            </a:fld>
            <a:endParaRPr lang="en-US"/>
          </a:p>
        </p:txBody>
      </p:sp>
    </p:spTree>
    <p:extLst>
      <p:ext uri="{BB962C8B-B14F-4D97-AF65-F5344CB8AC3E}">
        <p14:creationId xmlns:p14="http://schemas.microsoft.com/office/powerpoint/2010/main" val="121553983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2">
          <a:extLst>
            <a:ext uri="{FF2B5EF4-FFF2-40B4-BE49-F238E27FC236}">
              <a16:creationId xmlns:a16="http://schemas.microsoft.com/office/drawing/2014/main" id="{9CFD9145-CB3D-B551-7706-552BB261D4D0}"/>
            </a:ext>
          </a:extLst>
        </p:cNvPr>
        <p:cNvGrpSpPr/>
        <p:nvPr/>
      </p:nvGrpSpPr>
      <p:grpSpPr>
        <a:xfrm>
          <a:off x="0" y="0"/>
          <a:ext cx="0" cy="0"/>
          <a:chOff x="0" y="0"/>
          <a:chExt cx="0" cy="0"/>
        </a:xfrm>
      </p:grpSpPr>
      <p:sp>
        <p:nvSpPr>
          <p:cNvPr id="223" name="Google Shape;223;g2d71bdcd539_0_280:notes">
            <a:extLst>
              <a:ext uri="{FF2B5EF4-FFF2-40B4-BE49-F238E27FC236}">
                <a16:creationId xmlns:a16="http://schemas.microsoft.com/office/drawing/2014/main" id="{18F48969-7A16-BE5C-701D-CB66ACF11476}"/>
              </a:ext>
            </a:extLst>
          </p:cNvPr>
          <p:cNvSpPr txBox="1">
            <a:spLocks noGrp="1"/>
          </p:cNvSpPr>
          <p:nvPr>
            <p:ph type="body" idx="1"/>
          </p:nvPr>
        </p:nvSpPr>
        <p:spPr>
          <a:xfrm>
            <a:off x="685800" y="4400555"/>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1"/>
              </a:buClr>
              <a:buSzPts val="1400"/>
              <a:buFont typeface="Calibri"/>
              <a:buNone/>
            </a:pPr>
            <a:endParaRPr/>
          </a:p>
        </p:txBody>
      </p:sp>
      <p:sp>
        <p:nvSpPr>
          <p:cNvPr id="224" name="Google Shape;224;g2d71bdcd539_0_280:notes">
            <a:extLst>
              <a:ext uri="{FF2B5EF4-FFF2-40B4-BE49-F238E27FC236}">
                <a16:creationId xmlns:a16="http://schemas.microsoft.com/office/drawing/2014/main" id="{0E0F3456-C60A-2DCC-4666-989420FB5A5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4332795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8">
          <a:extLst>
            <a:ext uri="{FF2B5EF4-FFF2-40B4-BE49-F238E27FC236}">
              <a16:creationId xmlns:a16="http://schemas.microsoft.com/office/drawing/2014/main" id="{E0183CA4-3BC0-C87A-FB7D-D7AF24B3A56E}"/>
            </a:ext>
          </a:extLst>
        </p:cNvPr>
        <p:cNvGrpSpPr/>
        <p:nvPr/>
      </p:nvGrpSpPr>
      <p:grpSpPr>
        <a:xfrm>
          <a:off x="0" y="0"/>
          <a:ext cx="0" cy="0"/>
          <a:chOff x="0" y="0"/>
          <a:chExt cx="0" cy="0"/>
        </a:xfrm>
      </p:grpSpPr>
      <p:sp>
        <p:nvSpPr>
          <p:cNvPr id="289" name="Google Shape;289;g2d71bdcd539_0_1628:notes">
            <a:extLst>
              <a:ext uri="{FF2B5EF4-FFF2-40B4-BE49-F238E27FC236}">
                <a16:creationId xmlns:a16="http://schemas.microsoft.com/office/drawing/2014/main" id="{FC7AA44F-13CA-17E3-6941-7D628A549DC3}"/>
              </a:ext>
            </a:extLst>
          </p:cNvPr>
          <p:cNvSpPr txBox="1">
            <a:spLocks noGrp="1"/>
          </p:cNvSpPr>
          <p:nvPr>
            <p:ph type="body" idx="1"/>
          </p:nvPr>
        </p:nvSpPr>
        <p:spPr>
          <a:xfrm>
            <a:off x="473722" y="6426118"/>
            <a:ext cx="3789900" cy="5257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1"/>
              </a:buClr>
              <a:buSzPts val="1400"/>
              <a:buFont typeface="Calibri"/>
              <a:buNone/>
            </a:pPr>
            <a:endParaRPr dirty="0"/>
          </a:p>
        </p:txBody>
      </p:sp>
      <p:sp>
        <p:nvSpPr>
          <p:cNvPr id="290" name="Google Shape;290;g2d71bdcd539_0_1628:notes">
            <a:extLst>
              <a:ext uri="{FF2B5EF4-FFF2-40B4-BE49-F238E27FC236}">
                <a16:creationId xmlns:a16="http://schemas.microsoft.com/office/drawing/2014/main" id="{DD6C0C4D-CC2E-DE5A-F402-AEF4E9379D76}"/>
              </a:ext>
            </a:extLst>
          </p:cNvPr>
          <p:cNvSpPr>
            <a:spLocks noGrp="1" noRot="1" noChangeAspect="1"/>
          </p:cNvSpPr>
          <p:nvPr>
            <p:ph type="sldImg" idx="2"/>
          </p:nvPr>
        </p:nvSpPr>
        <p:spPr>
          <a:xfrm>
            <a:off x="-1635125" y="1670050"/>
            <a:ext cx="8007350" cy="4505325"/>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41983204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8">
          <a:extLst>
            <a:ext uri="{FF2B5EF4-FFF2-40B4-BE49-F238E27FC236}">
              <a16:creationId xmlns:a16="http://schemas.microsoft.com/office/drawing/2014/main" id="{A1805F42-FE73-89F6-B917-490110C91246}"/>
            </a:ext>
          </a:extLst>
        </p:cNvPr>
        <p:cNvGrpSpPr/>
        <p:nvPr/>
      </p:nvGrpSpPr>
      <p:grpSpPr>
        <a:xfrm>
          <a:off x="0" y="0"/>
          <a:ext cx="0" cy="0"/>
          <a:chOff x="0" y="0"/>
          <a:chExt cx="0" cy="0"/>
        </a:xfrm>
      </p:grpSpPr>
      <p:sp>
        <p:nvSpPr>
          <p:cNvPr id="289" name="Google Shape;289;g2d71bdcd539_0_1628:notes">
            <a:extLst>
              <a:ext uri="{FF2B5EF4-FFF2-40B4-BE49-F238E27FC236}">
                <a16:creationId xmlns:a16="http://schemas.microsoft.com/office/drawing/2014/main" id="{568992D8-13CE-66B8-256C-540F3F0B8356}"/>
              </a:ext>
            </a:extLst>
          </p:cNvPr>
          <p:cNvSpPr txBox="1">
            <a:spLocks noGrp="1"/>
          </p:cNvSpPr>
          <p:nvPr>
            <p:ph type="body" idx="1"/>
          </p:nvPr>
        </p:nvSpPr>
        <p:spPr>
          <a:xfrm>
            <a:off x="473722" y="6426118"/>
            <a:ext cx="3789900" cy="5257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1"/>
              </a:buClr>
              <a:buSzPts val="1400"/>
              <a:buFont typeface="Calibri"/>
              <a:buNone/>
            </a:pPr>
            <a:endParaRPr dirty="0"/>
          </a:p>
        </p:txBody>
      </p:sp>
      <p:sp>
        <p:nvSpPr>
          <p:cNvPr id="290" name="Google Shape;290;g2d71bdcd539_0_1628:notes">
            <a:extLst>
              <a:ext uri="{FF2B5EF4-FFF2-40B4-BE49-F238E27FC236}">
                <a16:creationId xmlns:a16="http://schemas.microsoft.com/office/drawing/2014/main" id="{2FBF1FA5-D64A-CFDC-23E8-A9717545437E}"/>
              </a:ext>
            </a:extLst>
          </p:cNvPr>
          <p:cNvSpPr>
            <a:spLocks noGrp="1" noRot="1" noChangeAspect="1"/>
          </p:cNvSpPr>
          <p:nvPr>
            <p:ph type="sldImg" idx="2"/>
          </p:nvPr>
        </p:nvSpPr>
        <p:spPr>
          <a:xfrm>
            <a:off x="-1635125" y="1670050"/>
            <a:ext cx="8007350" cy="4505325"/>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00259119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4">
          <a:extLst>
            <a:ext uri="{FF2B5EF4-FFF2-40B4-BE49-F238E27FC236}">
              <a16:creationId xmlns:a16="http://schemas.microsoft.com/office/drawing/2014/main" id="{903C823C-B485-8F90-0BF2-DEE7617CD2E1}"/>
            </a:ext>
          </a:extLst>
        </p:cNvPr>
        <p:cNvGrpSpPr/>
        <p:nvPr/>
      </p:nvGrpSpPr>
      <p:grpSpPr>
        <a:xfrm>
          <a:off x="0" y="0"/>
          <a:ext cx="0" cy="0"/>
          <a:chOff x="0" y="0"/>
          <a:chExt cx="0" cy="0"/>
        </a:xfrm>
      </p:grpSpPr>
      <p:sp>
        <p:nvSpPr>
          <p:cNvPr id="145" name="Google Shape;145;p8:notes">
            <a:extLst>
              <a:ext uri="{FF2B5EF4-FFF2-40B4-BE49-F238E27FC236}">
                <a16:creationId xmlns:a16="http://schemas.microsoft.com/office/drawing/2014/main" id="{985161D5-A654-9090-E493-14BDC0F9E75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91425" rIns="91425" bIns="91425" anchor="t" anchorCtr="0">
            <a:noAutofit/>
          </a:bodyPr>
          <a:lstStyle/>
          <a:p>
            <a:r>
              <a:rPr lang="es-AR" b="1" dirty="0"/>
              <a:t>Cómo Procesa una Imagen una CNN: VGG16</a:t>
            </a:r>
          </a:p>
          <a:p>
            <a:r>
              <a:rPr lang="es-AR" dirty="0"/>
              <a:t>VGG16 (2014) es una arquitectura de referencia con 16 capas. Procesa una imagen de 224×224 píxeles y la transforma en un vector de 1000 probabilidades de clase.</a:t>
            </a:r>
          </a:p>
          <a:p>
            <a:r>
              <a:rPr lang="es-AR" b="1" dirty="0"/>
              <a:t>Entrada </a:t>
            </a:r>
            <a:r>
              <a:rPr lang="es-AR" dirty="0"/>
              <a:t>Imagen RGB de 224×224 píxeles</a:t>
            </a:r>
          </a:p>
          <a:p>
            <a:r>
              <a:rPr lang="es-AR" b="1" dirty="0"/>
              <a:t>Extracción de características </a:t>
            </a:r>
            <a:r>
              <a:rPr lang="es-AR" dirty="0"/>
              <a:t>13 capas convolucionales con filtros 3×3</a:t>
            </a:r>
          </a:p>
          <a:p>
            <a:r>
              <a:rPr lang="es-AR" b="1" dirty="0"/>
              <a:t>Reducción progresiva </a:t>
            </a:r>
            <a:r>
              <a:rPr lang="es-AR" dirty="0"/>
              <a:t>5 capas de </a:t>
            </a:r>
            <a:r>
              <a:rPr lang="es-AR" dirty="0" err="1"/>
              <a:t>pooling</a:t>
            </a:r>
            <a:r>
              <a:rPr lang="es-AR" dirty="0"/>
              <a:t> que comprimen la información</a:t>
            </a:r>
          </a:p>
          <a:p>
            <a:r>
              <a:rPr lang="es-AR" b="1" dirty="0"/>
              <a:t>Clasificación </a:t>
            </a:r>
            <a:r>
              <a:rPr lang="es-AR" dirty="0"/>
              <a:t>3 capas densas → 1000 categorías</a:t>
            </a:r>
          </a:p>
        </p:txBody>
      </p:sp>
      <p:sp>
        <p:nvSpPr>
          <p:cNvPr id="146" name="Google Shape;146;p8:notes">
            <a:extLst>
              <a:ext uri="{FF2B5EF4-FFF2-40B4-BE49-F238E27FC236}">
                <a16:creationId xmlns:a16="http://schemas.microsoft.com/office/drawing/2014/main" id="{89064A5F-9E6E-EBBC-473E-D315B670BDD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94367437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4">
          <a:extLst>
            <a:ext uri="{FF2B5EF4-FFF2-40B4-BE49-F238E27FC236}">
              <a16:creationId xmlns:a16="http://schemas.microsoft.com/office/drawing/2014/main" id="{028636A5-FC36-4546-0461-3E6152A65401}"/>
            </a:ext>
          </a:extLst>
        </p:cNvPr>
        <p:cNvGrpSpPr/>
        <p:nvPr/>
      </p:nvGrpSpPr>
      <p:grpSpPr>
        <a:xfrm>
          <a:off x="0" y="0"/>
          <a:ext cx="0" cy="0"/>
          <a:chOff x="0" y="0"/>
          <a:chExt cx="0" cy="0"/>
        </a:xfrm>
      </p:grpSpPr>
      <p:sp>
        <p:nvSpPr>
          <p:cNvPr id="145" name="Google Shape;145;p8:notes">
            <a:extLst>
              <a:ext uri="{FF2B5EF4-FFF2-40B4-BE49-F238E27FC236}">
                <a16:creationId xmlns:a16="http://schemas.microsoft.com/office/drawing/2014/main" id="{2A55C4EC-4FD5-C491-0765-16CD5AB594A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91425" rIns="91425" bIns="91425" anchor="t" anchorCtr="0">
            <a:noAutofit/>
          </a:bodyPr>
          <a:lstStyle/>
          <a:p>
            <a:endParaRPr lang="es-AR" dirty="0"/>
          </a:p>
        </p:txBody>
      </p:sp>
      <p:sp>
        <p:nvSpPr>
          <p:cNvPr id="146" name="Google Shape;146;p8:notes">
            <a:extLst>
              <a:ext uri="{FF2B5EF4-FFF2-40B4-BE49-F238E27FC236}">
                <a16:creationId xmlns:a16="http://schemas.microsoft.com/office/drawing/2014/main" id="{D47A2A9C-455D-D8BB-72A2-C6EB9707B27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5314451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4">
          <a:extLst>
            <a:ext uri="{FF2B5EF4-FFF2-40B4-BE49-F238E27FC236}">
              <a16:creationId xmlns:a16="http://schemas.microsoft.com/office/drawing/2014/main" id="{5D0ECCE1-6641-1245-FDA4-B58D264DF460}"/>
            </a:ext>
          </a:extLst>
        </p:cNvPr>
        <p:cNvGrpSpPr/>
        <p:nvPr/>
      </p:nvGrpSpPr>
      <p:grpSpPr>
        <a:xfrm>
          <a:off x="0" y="0"/>
          <a:ext cx="0" cy="0"/>
          <a:chOff x="0" y="0"/>
          <a:chExt cx="0" cy="0"/>
        </a:xfrm>
      </p:grpSpPr>
      <p:sp>
        <p:nvSpPr>
          <p:cNvPr id="145" name="Google Shape;145;p8:notes">
            <a:extLst>
              <a:ext uri="{FF2B5EF4-FFF2-40B4-BE49-F238E27FC236}">
                <a16:creationId xmlns:a16="http://schemas.microsoft.com/office/drawing/2014/main" id="{F9092153-69F2-5FF9-2136-F486817BEB6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91425" rIns="91425" bIns="91425" anchor="t" anchorCtr="0">
            <a:noAutofit/>
          </a:bodyPr>
          <a:lstStyle/>
          <a:p>
            <a:endParaRPr lang="es-AR" dirty="0"/>
          </a:p>
        </p:txBody>
      </p:sp>
      <p:sp>
        <p:nvSpPr>
          <p:cNvPr id="146" name="Google Shape;146;p8:notes">
            <a:extLst>
              <a:ext uri="{FF2B5EF4-FFF2-40B4-BE49-F238E27FC236}">
                <a16:creationId xmlns:a16="http://schemas.microsoft.com/office/drawing/2014/main" id="{44971497-DBBE-0722-AF68-D4F6BE1F44A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5199300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4">
          <a:extLst>
            <a:ext uri="{FF2B5EF4-FFF2-40B4-BE49-F238E27FC236}">
              <a16:creationId xmlns:a16="http://schemas.microsoft.com/office/drawing/2014/main" id="{CE886D6A-5144-84C2-DDB5-EB5668C9E56D}"/>
            </a:ext>
          </a:extLst>
        </p:cNvPr>
        <p:cNvGrpSpPr/>
        <p:nvPr/>
      </p:nvGrpSpPr>
      <p:grpSpPr>
        <a:xfrm>
          <a:off x="0" y="0"/>
          <a:ext cx="0" cy="0"/>
          <a:chOff x="0" y="0"/>
          <a:chExt cx="0" cy="0"/>
        </a:xfrm>
      </p:grpSpPr>
      <p:sp>
        <p:nvSpPr>
          <p:cNvPr id="145" name="Google Shape;145;p8:notes">
            <a:extLst>
              <a:ext uri="{FF2B5EF4-FFF2-40B4-BE49-F238E27FC236}">
                <a16:creationId xmlns:a16="http://schemas.microsoft.com/office/drawing/2014/main" id="{760CC795-E4C1-C17B-7875-AD3C45EF2AF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91425" rIns="91425" bIns="91425" anchor="t" anchorCtr="0">
            <a:noAutofit/>
          </a:bodyPr>
          <a:lstStyle/>
          <a:p>
            <a:endParaRPr lang="es-AR" dirty="0"/>
          </a:p>
        </p:txBody>
      </p:sp>
      <p:sp>
        <p:nvSpPr>
          <p:cNvPr id="146" name="Google Shape;146;p8:notes">
            <a:extLst>
              <a:ext uri="{FF2B5EF4-FFF2-40B4-BE49-F238E27FC236}">
                <a16:creationId xmlns:a16="http://schemas.microsoft.com/office/drawing/2014/main" id="{25517475-BF48-9120-5230-ADB9D271C21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19722411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4">
          <a:extLst>
            <a:ext uri="{FF2B5EF4-FFF2-40B4-BE49-F238E27FC236}">
              <a16:creationId xmlns:a16="http://schemas.microsoft.com/office/drawing/2014/main" id="{D80E8AFE-1D53-AFB8-0589-16BDE7CCB198}"/>
            </a:ext>
          </a:extLst>
        </p:cNvPr>
        <p:cNvGrpSpPr/>
        <p:nvPr/>
      </p:nvGrpSpPr>
      <p:grpSpPr>
        <a:xfrm>
          <a:off x="0" y="0"/>
          <a:ext cx="0" cy="0"/>
          <a:chOff x="0" y="0"/>
          <a:chExt cx="0" cy="0"/>
        </a:xfrm>
      </p:grpSpPr>
      <p:sp>
        <p:nvSpPr>
          <p:cNvPr id="145" name="Google Shape;145;p8:notes">
            <a:extLst>
              <a:ext uri="{FF2B5EF4-FFF2-40B4-BE49-F238E27FC236}">
                <a16:creationId xmlns:a16="http://schemas.microsoft.com/office/drawing/2014/main" id="{EE61EA80-70D5-6DFF-7731-01242715BE6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91425" rIns="91425" bIns="91425" anchor="t" anchorCtr="0">
            <a:noAutofit/>
          </a:bodyPr>
          <a:lstStyle/>
          <a:p>
            <a:endParaRPr lang="es-AR" dirty="0"/>
          </a:p>
        </p:txBody>
      </p:sp>
      <p:sp>
        <p:nvSpPr>
          <p:cNvPr id="146" name="Google Shape;146;p8:notes">
            <a:extLst>
              <a:ext uri="{FF2B5EF4-FFF2-40B4-BE49-F238E27FC236}">
                <a16:creationId xmlns:a16="http://schemas.microsoft.com/office/drawing/2014/main" id="{6531058E-3361-E3AF-603A-EF8A09664D1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81766765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4">
          <a:extLst>
            <a:ext uri="{FF2B5EF4-FFF2-40B4-BE49-F238E27FC236}">
              <a16:creationId xmlns:a16="http://schemas.microsoft.com/office/drawing/2014/main" id="{8E670EA2-8158-6DAD-0738-FBC4D5E5D6A2}"/>
            </a:ext>
          </a:extLst>
        </p:cNvPr>
        <p:cNvGrpSpPr/>
        <p:nvPr/>
      </p:nvGrpSpPr>
      <p:grpSpPr>
        <a:xfrm>
          <a:off x="0" y="0"/>
          <a:ext cx="0" cy="0"/>
          <a:chOff x="0" y="0"/>
          <a:chExt cx="0" cy="0"/>
        </a:xfrm>
      </p:grpSpPr>
      <p:sp>
        <p:nvSpPr>
          <p:cNvPr id="145" name="Google Shape;145;p8:notes">
            <a:extLst>
              <a:ext uri="{FF2B5EF4-FFF2-40B4-BE49-F238E27FC236}">
                <a16:creationId xmlns:a16="http://schemas.microsoft.com/office/drawing/2014/main" id="{D315DDED-6FDD-76D6-72F8-120C0A9F1A4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91425" rIns="91425" bIns="91425" anchor="t" anchorCtr="0">
            <a:noAutofit/>
          </a:bodyPr>
          <a:lstStyle/>
          <a:p>
            <a:endParaRPr lang="es-AR" dirty="0"/>
          </a:p>
        </p:txBody>
      </p:sp>
      <p:sp>
        <p:nvSpPr>
          <p:cNvPr id="146" name="Google Shape;146;p8:notes">
            <a:extLst>
              <a:ext uri="{FF2B5EF4-FFF2-40B4-BE49-F238E27FC236}">
                <a16:creationId xmlns:a16="http://schemas.microsoft.com/office/drawing/2014/main" id="{75ECBBB9-003A-0803-6D08-BC575B33872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04149034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4">
          <a:extLst>
            <a:ext uri="{FF2B5EF4-FFF2-40B4-BE49-F238E27FC236}">
              <a16:creationId xmlns:a16="http://schemas.microsoft.com/office/drawing/2014/main" id="{16804792-F6F1-2FF2-90F8-D7A18CC0FC44}"/>
            </a:ext>
          </a:extLst>
        </p:cNvPr>
        <p:cNvGrpSpPr/>
        <p:nvPr/>
      </p:nvGrpSpPr>
      <p:grpSpPr>
        <a:xfrm>
          <a:off x="0" y="0"/>
          <a:ext cx="0" cy="0"/>
          <a:chOff x="0" y="0"/>
          <a:chExt cx="0" cy="0"/>
        </a:xfrm>
      </p:grpSpPr>
      <p:sp>
        <p:nvSpPr>
          <p:cNvPr id="205" name="Google Shape;205;g2d71bdcd539_0_97:notes">
            <a:extLst>
              <a:ext uri="{FF2B5EF4-FFF2-40B4-BE49-F238E27FC236}">
                <a16:creationId xmlns:a16="http://schemas.microsoft.com/office/drawing/2014/main" id="{6A99C100-9EF5-8DEE-EE17-7FAAE2CFBD74}"/>
              </a:ext>
            </a:extLst>
          </p:cNvPr>
          <p:cNvSpPr txBox="1">
            <a:spLocks noGrp="1"/>
          </p:cNvSpPr>
          <p:nvPr>
            <p:ph type="body" idx="1"/>
          </p:nvPr>
        </p:nvSpPr>
        <p:spPr>
          <a:xfrm>
            <a:off x="473722" y="6426118"/>
            <a:ext cx="3789900" cy="5257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1"/>
              </a:buClr>
              <a:buSzPts val="1400"/>
              <a:buFont typeface="Calibri"/>
              <a:buNone/>
            </a:pPr>
            <a:endParaRPr/>
          </a:p>
        </p:txBody>
      </p:sp>
      <p:sp>
        <p:nvSpPr>
          <p:cNvPr id="206" name="Google Shape;206;g2d71bdcd539_0_97:notes">
            <a:extLst>
              <a:ext uri="{FF2B5EF4-FFF2-40B4-BE49-F238E27FC236}">
                <a16:creationId xmlns:a16="http://schemas.microsoft.com/office/drawing/2014/main" id="{B2758507-D1A8-BBCB-BF0E-398D799F9073}"/>
              </a:ext>
            </a:extLst>
          </p:cNvPr>
          <p:cNvSpPr>
            <a:spLocks noGrp="1" noRot="1" noChangeAspect="1"/>
          </p:cNvSpPr>
          <p:nvPr>
            <p:ph type="sldImg" idx="2"/>
          </p:nvPr>
        </p:nvSpPr>
        <p:spPr>
          <a:xfrm>
            <a:off x="-1635125" y="1670050"/>
            <a:ext cx="8007350" cy="4505325"/>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04622066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0"/>
        <p:cNvGrpSpPr/>
        <p:nvPr/>
      </p:nvGrpSpPr>
      <p:grpSpPr>
        <a:xfrm>
          <a:off x="0" y="0"/>
          <a:ext cx="0" cy="0"/>
          <a:chOff x="0" y="0"/>
          <a:chExt cx="0" cy="0"/>
        </a:xfrm>
      </p:grpSpPr>
      <p:sp>
        <p:nvSpPr>
          <p:cNvPr id="431" name="Google Shape;431;g2d71bdcd539_0_1153:notes"/>
          <p:cNvSpPr txBox="1">
            <a:spLocks noGrp="1"/>
          </p:cNvSpPr>
          <p:nvPr>
            <p:ph type="body" idx="1"/>
          </p:nvPr>
        </p:nvSpPr>
        <p:spPr>
          <a:xfrm>
            <a:off x="685800" y="4400550"/>
            <a:ext cx="5486400" cy="36006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es-AR" dirty="0"/>
              <a:t>https://www.youtube.com/watch?v=yJWAtr3kvPU</a:t>
            </a:r>
          </a:p>
          <a:p>
            <a:pPr marL="0" lvl="0" indent="0" algn="l" rtl="0">
              <a:lnSpc>
                <a:spcPct val="100000"/>
              </a:lnSpc>
              <a:spcBef>
                <a:spcPts val="0"/>
              </a:spcBef>
              <a:spcAft>
                <a:spcPts val="0"/>
              </a:spcAft>
              <a:buSzPts val="1100"/>
              <a:buNone/>
            </a:pPr>
            <a:r>
              <a:rPr lang="es-AR"/>
              <a:t>https://www.youtube.com/watch?v=Fu9cjck_UuI</a:t>
            </a:r>
          </a:p>
          <a:p>
            <a:pPr marL="0" lvl="0" indent="0" algn="l" rtl="0">
              <a:lnSpc>
                <a:spcPct val="100000"/>
              </a:lnSpc>
              <a:spcBef>
                <a:spcPts val="0"/>
              </a:spcBef>
              <a:spcAft>
                <a:spcPts val="0"/>
              </a:spcAft>
              <a:buSzPts val="1100"/>
              <a:buNone/>
            </a:pPr>
            <a:endParaRPr/>
          </a:p>
        </p:txBody>
      </p:sp>
      <p:sp>
        <p:nvSpPr>
          <p:cNvPr id="432" name="Google Shape;432;g2d71bdcd539_0_115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PPTMON title">
  <p:cSld name="PPTMON title">
    <p:bg>
      <p:bgPr>
        <a:solidFill>
          <a:srgbClr val="242C4F"/>
        </a:solidFill>
        <a:effectLst/>
      </p:bgPr>
    </p:bg>
    <p:spTree>
      <p:nvGrpSpPr>
        <p:cNvPr id="1" name="Shape 6"/>
        <p:cNvGrpSpPr/>
        <p:nvPr/>
      </p:nvGrpSpPr>
      <p:grpSpPr>
        <a:xfrm>
          <a:off x="0" y="0"/>
          <a:ext cx="0" cy="0"/>
          <a:chOff x="0" y="0"/>
          <a:chExt cx="0" cy="0"/>
        </a:xfrm>
      </p:grpSpPr>
      <p:pic>
        <p:nvPicPr>
          <p:cNvPr id="9" name="Gráfico 8">
            <a:extLst>
              <a:ext uri="{FF2B5EF4-FFF2-40B4-BE49-F238E27FC236}">
                <a16:creationId xmlns:a16="http://schemas.microsoft.com/office/drawing/2014/main" id="{93B53687-2141-F009-F394-B77CF9C7F62A}"/>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156036" y="5293107"/>
            <a:ext cx="7133452" cy="936000"/>
          </a:xfrm>
          <a:prstGeom prst="rect">
            <a:avLst/>
          </a:prstGeom>
        </p:spPr>
      </p:pic>
    </p:spTree>
    <p:extLst>
      <p:ext uri="{BB962C8B-B14F-4D97-AF65-F5344CB8AC3E}">
        <p14:creationId xmlns:p14="http://schemas.microsoft.com/office/powerpoint/2010/main" val="626071482"/>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PPTMON title" preserve="1">
  <p:cSld name="1_PPTMON title">
    <p:bg>
      <p:bgPr>
        <a:solidFill>
          <a:srgbClr val="242C4F"/>
        </a:solidFill>
        <a:effectLst/>
      </p:bgPr>
    </p:bg>
    <p:spTree>
      <p:nvGrpSpPr>
        <p:cNvPr id="1" name="Shape 6"/>
        <p:cNvGrpSpPr/>
        <p:nvPr/>
      </p:nvGrpSpPr>
      <p:grpSpPr>
        <a:xfrm>
          <a:off x="0" y="0"/>
          <a:ext cx="0" cy="0"/>
          <a:chOff x="0" y="0"/>
          <a:chExt cx="0" cy="0"/>
        </a:xfrm>
      </p:grpSpPr>
      <p:sp>
        <p:nvSpPr>
          <p:cNvPr id="2" name="Slide Number Placeholder 5">
            <a:extLst>
              <a:ext uri="{FF2B5EF4-FFF2-40B4-BE49-F238E27FC236}">
                <a16:creationId xmlns:a16="http://schemas.microsoft.com/office/drawing/2014/main" id="{3AB5A65E-99BE-D6CB-036D-D6FB20559B0F}"/>
              </a:ext>
            </a:extLst>
          </p:cNvPr>
          <p:cNvSpPr txBox="1">
            <a:spLocks/>
          </p:cNvSpPr>
          <p:nvPr userDrawn="1"/>
        </p:nvSpPr>
        <p:spPr>
          <a:xfrm>
            <a:off x="9364014" y="6356350"/>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000"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106C7877-C817-4464-A9D8-119395DEDFD0}" type="slidenum">
              <a:rPr kumimoji="0" lang="en-US" sz="1000" b="0" i="0" u="none" strike="noStrike" kern="1200" cap="none" spc="0" normalizeH="0" baseline="0" noProof="0" smtClean="0">
                <a:ln>
                  <a:noFill/>
                </a:ln>
                <a:solidFill>
                  <a:srgbClr val="FFFFFF"/>
                </a:solidFill>
                <a:effectLst/>
                <a:uLnTx/>
                <a:uFillTx/>
                <a:latin typeface="Arial"/>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‹Nº›</a:t>
            </a:fld>
            <a:endParaRPr kumimoji="0" lang="en-US" sz="1000" b="0" i="0" u="none" strike="noStrike" kern="1200" cap="none" spc="0" normalizeH="0" baseline="0" noProof="0" dirty="0">
              <a:ln>
                <a:noFill/>
              </a:ln>
              <a:solidFill>
                <a:srgbClr val="FFFFFF"/>
              </a:solidFill>
              <a:effectLst/>
              <a:uLnTx/>
              <a:uFillTx/>
              <a:latin typeface="Arial"/>
              <a:ea typeface="+mn-ea"/>
              <a:cs typeface="+mn-cs"/>
            </a:endParaRPr>
          </a:p>
        </p:txBody>
      </p:sp>
      <p:pic>
        <p:nvPicPr>
          <p:cNvPr id="4" name="Gráfico 3">
            <a:extLst>
              <a:ext uri="{FF2B5EF4-FFF2-40B4-BE49-F238E27FC236}">
                <a16:creationId xmlns:a16="http://schemas.microsoft.com/office/drawing/2014/main" id="{615BDEBB-6770-D21C-C103-3795C71CF1F5}"/>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156036" y="5293107"/>
            <a:ext cx="7133452" cy="936000"/>
          </a:xfrm>
          <a:prstGeom prst="rect">
            <a:avLst/>
          </a:prstGeom>
        </p:spPr>
      </p:pic>
    </p:spTree>
    <p:extLst>
      <p:ext uri="{BB962C8B-B14F-4D97-AF65-F5344CB8AC3E}">
        <p14:creationId xmlns:p14="http://schemas.microsoft.com/office/powerpoint/2010/main" val="3713353023"/>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Custom Layout 1">
  <p:cSld name="Custom Layout 1">
    <p:bg>
      <p:bgPr>
        <a:solidFill>
          <a:schemeClr val="lt1"/>
        </a:solidFill>
        <a:effectLst/>
      </p:bgPr>
    </p:bg>
    <p:spTree>
      <p:nvGrpSpPr>
        <p:cNvPr id="1" name="Shape 25"/>
        <p:cNvGrpSpPr/>
        <p:nvPr/>
      </p:nvGrpSpPr>
      <p:grpSpPr>
        <a:xfrm>
          <a:off x="0" y="0"/>
          <a:ext cx="0" cy="0"/>
          <a:chOff x="0" y="0"/>
          <a:chExt cx="0" cy="0"/>
        </a:xfrm>
      </p:grpSpPr>
      <p:sp>
        <p:nvSpPr>
          <p:cNvPr id="2" name="Google Shape;233;p47">
            <a:extLst>
              <a:ext uri="{FF2B5EF4-FFF2-40B4-BE49-F238E27FC236}">
                <a16:creationId xmlns:a16="http://schemas.microsoft.com/office/drawing/2014/main" id="{1E37DB53-F1F1-3B73-5676-7F1C66663333}"/>
              </a:ext>
            </a:extLst>
          </p:cNvPr>
          <p:cNvSpPr/>
          <p:nvPr userDrawn="1"/>
        </p:nvSpPr>
        <p:spPr>
          <a:xfrm>
            <a:off x="0" y="6145306"/>
            <a:ext cx="12192000" cy="712694"/>
          </a:xfrm>
          <a:prstGeom prst="rect">
            <a:avLst/>
          </a:prstGeom>
          <a:solidFill>
            <a:srgbClr val="242C4F"/>
          </a:solidFill>
          <a:ln>
            <a:noFill/>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endParaRPr kumimoji="0" sz="1867" b="0" i="0" u="none" strike="noStrike" kern="0" cap="none" spc="0" normalizeH="0" baseline="0" noProof="0" dirty="0">
              <a:ln>
                <a:noFill/>
              </a:ln>
              <a:solidFill>
                <a:srgbClr val="000000"/>
              </a:solidFill>
              <a:effectLst/>
              <a:uLnTx/>
              <a:uFillTx/>
              <a:latin typeface="Verdana"/>
              <a:ea typeface="Verdana"/>
              <a:cs typeface="Verdana"/>
              <a:sym typeface="Verdana"/>
            </a:endParaRPr>
          </a:p>
        </p:txBody>
      </p:sp>
      <p:sp>
        <p:nvSpPr>
          <p:cNvPr id="3" name="Slide Number Placeholder 5">
            <a:extLst>
              <a:ext uri="{FF2B5EF4-FFF2-40B4-BE49-F238E27FC236}">
                <a16:creationId xmlns:a16="http://schemas.microsoft.com/office/drawing/2014/main" id="{5E5EF601-C33D-5038-E403-F2EF1C70526A}"/>
              </a:ext>
            </a:extLst>
          </p:cNvPr>
          <p:cNvSpPr txBox="1">
            <a:spLocks/>
          </p:cNvSpPr>
          <p:nvPr userDrawn="1"/>
        </p:nvSpPr>
        <p:spPr>
          <a:xfrm>
            <a:off x="9364014" y="6356350"/>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000"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106C7877-C817-4464-A9D8-119395DEDFD0}" type="slidenum">
              <a:rPr kumimoji="0" lang="en-US" sz="1000" b="0" i="0" u="none" strike="noStrike" kern="1200" cap="none" spc="0" normalizeH="0" baseline="0" noProof="0" smtClean="0">
                <a:ln>
                  <a:noFill/>
                </a:ln>
                <a:solidFill>
                  <a:srgbClr val="FFFFFF"/>
                </a:solidFill>
                <a:effectLst/>
                <a:uLnTx/>
                <a:uFillTx/>
                <a:latin typeface="Arial"/>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‹Nº›</a:t>
            </a:fld>
            <a:endParaRPr kumimoji="0" lang="en-US" sz="1000" b="0" i="0" u="none" strike="noStrike" kern="1200" cap="none" spc="0" normalizeH="0" baseline="0" noProof="0" dirty="0">
              <a:ln>
                <a:noFill/>
              </a:ln>
              <a:solidFill>
                <a:srgbClr val="FFFFFF"/>
              </a:solidFill>
              <a:effectLst/>
              <a:uLnTx/>
              <a:uFillTx/>
              <a:latin typeface="Arial"/>
              <a:ea typeface="+mn-ea"/>
              <a:cs typeface="+mn-cs"/>
            </a:endParaRPr>
          </a:p>
        </p:txBody>
      </p:sp>
      <p:pic>
        <p:nvPicPr>
          <p:cNvPr id="6" name="Gráfico 5">
            <a:extLst>
              <a:ext uri="{FF2B5EF4-FFF2-40B4-BE49-F238E27FC236}">
                <a16:creationId xmlns:a16="http://schemas.microsoft.com/office/drawing/2014/main" id="{D5D3B56A-5380-D0EB-E03C-7F4EF157CA60}"/>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48804" y="6249976"/>
            <a:ext cx="3566726" cy="468000"/>
          </a:xfrm>
          <a:prstGeom prst="rect">
            <a:avLst/>
          </a:prstGeom>
        </p:spPr>
      </p:pic>
    </p:spTree>
    <p:extLst>
      <p:ext uri="{BB962C8B-B14F-4D97-AF65-F5344CB8AC3E}">
        <p14:creationId xmlns:p14="http://schemas.microsoft.com/office/powerpoint/2010/main" val="394053499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3_PPTMON slide" userDrawn="1">
  <p:cSld name="3_PPTMON slide">
    <p:bg>
      <p:bgPr>
        <a:solidFill>
          <a:srgbClr val="242C4F"/>
        </a:solidFill>
        <a:effectLst/>
      </p:bgPr>
    </p:bg>
    <p:spTree>
      <p:nvGrpSpPr>
        <p:cNvPr id="1" name="Shape 9"/>
        <p:cNvGrpSpPr/>
        <p:nvPr/>
      </p:nvGrpSpPr>
      <p:grpSpPr>
        <a:xfrm>
          <a:off x="0" y="0"/>
          <a:ext cx="0" cy="0"/>
          <a:chOff x="0" y="0"/>
          <a:chExt cx="0" cy="0"/>
        </a:xfrm>
      </p:grpSpPr>
      <p:sp>
        <p:nvSpPr>
          <p:cNvPr id="4" name="Slide Number Placeholder 5">
            <a:extLst>
              <a:ext uri="{FF2B5EF4-FFF2-40B4-BE49-F238E27FC236}">
                <a16:creationId xmlns:a16="http://schemas.microsoft.com/office/drawing/2014/main" id="{07954930-B2F7-96D6-2C6F-966E29189B0E}"/>
              </a:ext>
            </a:extLst>
          </p:cNvPr>
          <p:cNvSpPr txBox="1">
            <a:spLocks/>
          </p:cNvSpPr>
          <p:nvPr userDrawn="1"/>
        </p:nvSpPr>
        <p:spPr>
          <a:xfrm>
            <a:off x="9364014" y="6356350"/>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000"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106C7877-C817-4464-A9D8-119395DEDFD0}" type="slidenum">
              <a:rPr kumimoji="0" lang="en-US" sz="1000" b="0" i="0" u="none" strike="noStrike" kern="1200" cap="none" spc="0" normalizeH="0" baseline="0" noProof="0" smtClean="0">
                <a:ln>
                  <a:noFill/>
                </a:ln>
                <a:solidFill>
                  <a:srgbClr val="FFFFFF"/>
                </a:solidFill>
                <a:effectLst/>
                <a:uLnTx/>
                <a:uFillTx/>
                <a:latin typeface="Arial"/>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‹Nº›</a:t>
            </a:fld>
            <a:endParaRPr kumimoji="0" lang="en-US" sz="1000" b="0" i="0" u="none" strike="noStrike" kern="1200" cap="none" spc="0" normalizeH="0" baseline="0" noProof="0" dirty="0">
              <a:ln>
                <a:noFill/>
              </a:ln>
              <a:solidFill>
                <a:srgbClr val="FFFFFF"/>
              </a:solidFill>
              <a:effectLst/>
              <a:uLnTx/>
              <a:uFillTx/>
              <a:latin typeface="Arial"/>
              <a:ea typeface="+mn-ea"/>
              <a:cs typeface="+mn-cs"/>
            </a:endParaRPr>
          </a:p>
        </p:txBody>
      </p:sp>
      <p:pic>
        <p:nvPicPr>
          <p:cNvPr id="2" name="Gráfico 1">
            <a:extLst>
              <a:ext uri="{FF2B5EF4-FFF2-40B4-BE49-F238E27FC236}">
                <a16:creationId xmlns:a16="http://schemas.microsoft.com/office/drawing/2014/main" id="{050C4651-F74E-3D79-38DF-C61E2C856B4C}"/>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48804" y="6249976"/>
            <a:ext cx="3566726" cy="468000"/>
          </a:xfrm>
          <a:prstGeom prst="rect">
            <a:avLst/>
          </a:prstGeom>
        </p:spPr>
      </p:pic>
    </p:spTree>
    <p:extLst>
      <p:ext uri="{BB962C8B-B14F-4D97-AF65-F5344CB8AC3E}">
        <p14:creationId xmlns:p14="http://schemas.microsoft.com/office/powerpoint/2010/main" val="193677216"/>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ustom Layout 1" preserve="1">
  <p:cSld name="1_Custom Layout 1">
    <p:bg>
      <p:bgPr>
        <a:solidFill>
          <a:schemeClr val="lt1"/>
        </a:solidFill>
        <a:effectLst/>
      </p:bgPr>
    </p:bg>
    <p:spTree>
      <p:nvGrpSpPr>
        <p:cNvPr id="1" name="Shape 25"/>
        <p:cNvGrpSpPr/>
        <p:nvPr/>
      </p:nvGrpSpPr>
      <p:grpSpPr>
        <a:xfrm>
          <a:off x="0" y="0"/>
          <a:ext cx="0" cy="0"/>
          <a:chOff x="0" y="0"/>
          <a:chExt cx="0" cy="0"/>
        </a:xfrm>
      </p:grpSpPr>
      <p:sp>
        <p:nvSpPr>
          <p:cNvPr id="5" name="Google Shape;301;p53">
            <a:extLst>
              <a:ext uri="{FF2B5EF4-FFF2-40B4-BE49-F238E27FC236}">
                <a16:creationId xmlns:a16="http://schemas.microsoft.com/office/drawing/2014/main" id="{7578B4D6-B0F9-B2E9-BA85-D9BE24DC36F7}"/>
              </a:ext>
            </a:extLst>
          </p:cNvPr>
          <p:cNvSpPr/>
          <p:nvPr userDrawn="1"/>
        </p:nvSpPr>
        <p:spPr>
          <a:xfrm>
            <a:off x="0" y="0"/>
            <a:ext cx="3412000" cy="6858000"/>
          </a:xfrm>
          <a:prstGeom prst="rect">
            <a:avLst/>
          </a:prstGeom>
          <a:solidFill>
            <a:srgbClr val="EFEFEF"/>
          </a:solidFill>
          <a:ln>
            <a:noFill/>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endParaRPr kumimoji="0" sz="1867" b="0" i="0" u="none" strike="noStrike" kern="0" cap="none" spc="0" normalizeH="0" baseline="0" noProof="0">
              <a:ln>
                <a:noFill/>
              </a:ln>
              <a:solidFill>
                <a:srgbClr val="000000"/>
              </a:solidFill>
              <a:effectLst/>
              <a:uLnTx/>
              <a:uFillTx/>
              <a:latin typeface="Verdana"/>
              <a:ea typeface="Verdana"/>
              <a:cs typeface="Verdana"/>
              <a:sym typeface="Verdana"/>
            </a:endParaRPr>
          </a:p>
        </p:txBody>
      </p:sp>
      <p:sp>
        <p:nvSpPr>
          <p:cNvPr id="2" name="Google Shape;233;p47">
            <a:extLst>
              <a:ext uri="{FF2B5EF4-FFF2-40B4-BE49-F238E27FC236}">
                <a16:creationId xmlns:a16="http://schemas.microsoft.com/office/drawing/2014/main" id="{1E37DB53-F1F1-3B73-5676-7F1C66663333}"/>
              </a:ext>
            </a:extLst>
          </p:cNvPr>
          <p:cNvSpPr/>
          <p:nvPr userDrawn="1"/>
        </p:nvSpPr>
        <p:spPr>
          <a:xfrm>
            <a:off x="0" y="6145306"/>
            <a:ext cx="12192000" cy="712694"/>
          </a:xfrm>
          <a:prstGeom prst="rect">
            <a:avLst/>
          </a:prstGeom>
          <a:solidFill>
            <a:srgbClr val="242C4F"/>
          </a:solidFill>
          <a:ln>
            <a:noFill/>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endParaRPr kumimoji="0" sz="1867" b="0" i="0" u="none" strike="noStrike" kern="0" cap="none" spc="0" normalizeH="0" baseline="0" noProof="0" dirty="0">
              <a:ln>
                <a:noFill/>
              </a:ln>
              <a:solidFill>
                <a:srgbClr val="000000"/>
              </a:solidFill>
              <a:effectLst/>
              <a:uLnTx/>
              <a:uFillTx/>
              <a:latin typeface="Verdana"/>
              <a:ea typeface="Verdana"/>
              <a:cs typeface="Verdana"/>
              <a:sym typeface="Verdana"/>
            </a:endParaRPr>
          </a:p>
        </p:txBody>
      </p:sp>
      <p:sp>
        <p:nvSpPr>
          <p:cNvPr id="3" name="Slide Number Placeholder 5">
            <a:extLst>
              <a:ext uri="{FF2B5EF4-FFF2-40B4-BE49-F238E27FC236}">
                <a16:creationId xmlns:a16="http://schemas.microsoft.com/office/drawing/2014/main" id="{5E5EF601-C33D-5038-E403-F2EF1C70526A}"/>
              </a:ext>
            </a:extLst>
          </p:cNvPr>
          <p:cNvSpPr txBox="1">
            <a:spLocks/>
          </p:cNvSpPr>
          <p:nvPr userDrawn="1"/>
        </p:nvSpPr>
        <p:spPr>
          <a:xfrm>
            <a:off x="9364014" y="6356350"/>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000"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106C7877-C817-4464-A9D8-119395DEDFD0}" type="slidenum">
              <a:rPr kumimoji="0" lang="en-US" sz="1000" b="0" i="0" u="none" strike="noStrike" kern="1200" cap="none" spc="0" normalizeH="0" baseline="0" noProof="0" smtClean="0">
                <a:ln>
                  <a:noFill/>
                </a:ln>
                <a:solidFill>
                  <a:srgbClr val="FFFFFF"/>
                </a:solidFill>
                <a:effectLst/>
                <a:uLnTx/>
                <a:uFillTx/>
                <a:latin typeface="Arial"/>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‹Nº›</a:t>
            </a:fld>
            <a:endParaRPr kumimoji="0" lang="en-US" sz="1000" b="0" i="0" u="none" strike="noStrike" kern="1200" cap="none" spc="0" normalizeH="0" baseline="0" noProof="0" dirty="0">
              <a:ln>
                <a:noFill/>
              </a:ln>
              <a:solidFill>
                <a:srgbClr val="FFFFFF"/>
              </a:solidFill>
              <a:effectLst/>
              <a:uLnTx/>
              <a:uFillTx/>
              <a:latin typeface="Arial"/>
              <a:ea typeface="+mn-ea"/>
              <a:cs typeface="+mn-cs"/>
            </a:endParaRPr>
          </a:p>
        </p:txBody>
      </p:sp>
      <p:pic>
        <p:nvPicPr>
          <p:cNvPr id="6" name="Gráfico 5">
            <a:extLst>
              <a:ext uri="{FF2B5EF4-FFF2-40B4-BE49-F238E27FC236}">
                <a16:creationId xmlns:a16="http://schemas.microsoft.com/office/drawing/2014/main" id="{EA791A1D-6A99-DFF2-BE14-9A049BE3131A}"/>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48804" y="6249976"/>
            <a:ext cx="3566726" cy="468000"/>
          </a:xfrm>
          <a:prstGeom prst="rect">
            <a:avLst/>
          </a:prstGeom>
        </p:spPr>
      </p:pic>
    </p:spTree>
    <p:extLst>
      <p:ext uri="{BB962C8B-B14F-4D97-AF65-F5344CB8AC3E}">
        <p14:creationId xmlns:p14="http://schemas.microsoft.com/office/powerpoint/2010/main" val="391186916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ustom Layout 1" preserve="1">
  <p:cSld name="1_Custom Layout 1">
    <p:bg>
      <p:bgPr>
        <a:solidFill>
          <a:schemeClr val="lt1"/>
        </a:solidFill>
        <a:effectLst/>
      </p:bgPr>
    </p:bg>
    <p:spTree>
      <p:nvGrpSpPr>
        <p:cNvPr id="1" name="Shape 25"/>
        <p:cNvGrpSpPr/>
        <p:nvPr/>
      </p:nvGrpSpPr>
      <p:grpSpPr>
        <a:xfrm>
          <a:off x="0" y="0"/>
          <a:ext cx="0" cy="0"/>
          <a:chOff x="0" y="0"/>
          <a:chExt cx="0" cy="0"/>
        </a:xfrm>
      </p:grpSpPr>
      <p:sp>
        <p:nvSpPr>
          <p:cNvPr id="5" name="Google Shape;301;p53">
            <a:extLst>
              <a:ext uri="{FF2B5EF4-FFF2-40B4-BE49-F238E27FC236}">
                <a16:creationId xmlns:a16="http://schemas.microsoft.com/office/drawing/2014/main" id="{7578B4D6-B0F9-B2E9-BA85-D9BE24DC36F7}"/>
              </a:ext>
            </a:extLst>
          </p:cNvPr>
          <p:cNvSpPr/>
          <p:nvPr userDrawn="1"/>
        </p:nvSpPr>
        <p:spPr>
          <a:xfrm>
            <a:off x="8780000" y="0"/>
            <a:ext cx="3412000" cy="6858000"/>
          </a:xfrm>
          <a:prstGeom prst="rect">
            <a:avLst/>
          </a:prstGeom>
          <a:solidFill>
            <a:srgbClr val="EFEFEF"/>
          </a:solidFill>
          <a:ln>
            <a:noFill/>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endParaRPr kumimoji="0" sz="1867" b="0" i="0" u="none" strike="noStrike" kern="0" cap="none" spc="0" normalizeH="0" baseline="0" noProof="0">
              <a:ln>
                <a:noFill/>
              </a:ln>
              <a:solidFill>
                <a:srgbClr val="000000"/>
              </a:solidFill>
              <a:effectLst/>
              <a:uLnTx/>
              <a:uFillTx/>
              <a:latin typeface="Verdana"/>
              <a:ea typeface="Verdana"/>
              <a:cs typeface="Verdana"/>
              <a:sym typeface="Verdana"/>
            </a:endParaRPr>
          </a:p>
        </p:txBody>
      </p:sp>
      <p:sp>
        <p:nvSpPr>
          <p:cNvPr id="2" name="Google Shape;233;p47">
            <a:extLst>
              <a:ext uri="{FF2B5EF4-FFF2-40B4-BE49-F238E27FC236}">
                <a16:creationId xmlns:a16="http://schemas.microsoft.com/office/drawing/2014/main" id="{1E37DB53-F1F1-3B73-5676-7F1C66663333}"/>
              </a:ext>
            </a:extLst>
          </p:cNvPr>
          <p:cNvSpPr/>
          <p:nvPr userDrawn="1"/>
        </p:nvSpPr>
        <p:spPr>
          <a:xfrm>
            <a:off x="0" y="6145306"/>
            <a:ext cx="12192000" cy="712694"/>
          </a:xfrm>
          <a:prstGeom prst="rect">
            <a:avLst/>
          </a:prstGeom>
          <a:solidFill>
            <a:srgbClr val="242C4F"/>
          </a:solidFill>
          <a:ln>
            <a:noFill/>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endParaRPr kumimoji="0" sz="1867" b="0" i="0" u="none" strike="noStrike" kern="0" cap="none" spc="0" normalizeH="0" baseline="0" noProof="0" dirty="0">
              <a:ln>
                <a:noFill/>
              </a:ln>
              <a:solidFill>
                <a:srgbClr val="000000"/>
              </a:solidFill>
              <a:effectLst/>
              <a:uLnTx/>
              <a:uFillTx/>
              <a:latin typeface="Verdana"/>
              <a:ea typeface="Verdana"/>
              <a:cs typeface="Verdana"/>
              <a:sym typeface="Verdana"/>
            </a:endParaRPr>
          </a:p>
        </p:txBody>
      </p:sp>
      <p:sp>
        <p:nvSpPr>
          <p:cNvPr id="3" name="Slide Number Placeholder 5">
            <a:extLst>
              <a:ext uri="{FF2B5EF4-FFF2-40B4-BE49-F238E27FC236}">
                <a16:creationId xmlns:a16="http://schemas.microsoft.com/office/drawing/2014/main" id="{5E5EF601-C33D-5038-E403-F2EF1C70526A}"/>
              </a:ext>
            </a:extLst>
          </p:cNvPr>
          <p:cNvSpPr txBox="1">
            <a:spLocks/>
          </p:cNvSpPr>
          <p:nvPr userDrawn="1"/>
        </p:nvSpPr>
        <p:spPr>
          <a:xfrm>
            <a:off x="9364014" y="6356350"/>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000"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106C7877-C817-4464-A9D8-119395DEDFD0}" type="slidenum">
              <a:rPr kumimoji="0" lang="en-US" sz="1000" b="0" i="0" u="none" strike="noStrike" kern="1200" cap="none" spc="0" normalizeH="0" baseline="0" noProof="0" smtClean="0">
                <a:ln>
                  <a:noFill/>
                </a:ln>
                <a:solidFill>
                  <a:srgbClr val="FFFFFF"/>
                </a:solidFill>
                <a:effectLst/>
                <a:uLnTx/>
                <a:uFillTx/>
                <a:latin typeface="Arial"/>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‹Nº›</a:t>
            </a:fld>
            <a:endParaRPr kumimoji="0" lang="en-US" sz="1000" b="0" i="0" u="none" strike="noStrike" kern="1200" cap="none" spc="0" normalizeH="0" baseline="0" noProof="0" dirty="0">
              <a:ln>
                <a:noFill/>
              </a:ln>
              <a:solidFill>
                <a:srgbClr val="FFFFFF"/>
              </a:solidFill>
              <a:effectLst/>
              <a:uLnTx/>
              <a:uFillTx/>
              <a:latin typeface="Arial"/>
              <a:ea typeface="+mn-ea"/>
              <a:cs typeface="+mn-cs"/>
            </a:endParaRPr>
          </a:p>
        </p:txBody>
      </p:sp>
      <p:pic>
        <p:nvPicPr>
          <p:cNvPr id="6" name="Gráfico 5">
            <a:extLst>
              <a:ext uri="{FF2B5EF4-FFF2-40B4-BE49-F238E27FC236}">
                <a16:creationId xmlns:a16="http://schemas.microsoft.com/office/drawing/2014/main" id="{F10A5A77-5B59-1DB4-3BB7-FE38D1AA1728}"/>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48804" y="6249976"/>
            <a:ext cx="3566726" cy="468000"/>
          </a:xfrm>
          <a:prstGeom prst="rect">
            <a:avLst/>
          </a:prstGeom>
        </p:spPr>
      </p:pic>
    </p:spTree>
    <p:extLst>
      <p:ext uri="{BB962C8B-B14F-4D97-AF65-F5344CB8AC3E}">
        <p14:creationId xmlns:p14="http://schemas.microsoft.com/office/powerpoint/2010/main" val="320832462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1_PPTMON slide" preserve="1" userDrawn="1">
  <p:cSld name="7_PPTMON slide">
    <p:bg>
      <p:bgPr>
        <a:solidFill>
          <a:schemeClr val="bg1"/>
        </a:solidFill>
        <a:effectLst/>
      </p:bgPr>
    </p:bg>
    <p:spTree>
      <p:nvGrpSpPr>
        <p:cNvPr id="1" name="Shape 7"/>
        <p:cNvGrpSpPr/>
        <p:nvPr/>
      </p:nvGrpSpPr>
      <p:grpSpPr>
        <a:xfrm>
          <a:off x="0" y="0"/>
          <a:ext cx="0" cy="0"/>
          <a:chOff x="0" y="0"/>
          <a:chExt cx="0" cy="0"/>
        </a:xfrm>
      </p:grpSpPr>
      <p:sp>
        <p:nvSpPr>
          <p:cNvPr id="3" name="Google Shape;233;p47">
            <a:extLst>
              <a:ext uri="{FF2B5EF4-FFF2-40B4-BE49-F238E27FC236}">
                <a16:creationId xmlns:a16="http://schemas.microsoft.com/office/drawing/2014/main" id="{FC6D22B7-B2F6-5144-C91B-040992C037A0}"/>
              </a:ext>
            </a:extLst>
          </p:cNvPr>
          <p:cNvSpPr/>
          <p:nvPr userDrawn="1"/>
        </p:nvSpPr>
        <p:spPr>
          <a:xfrm>
            <a:off x="0" y="6145306"/>
            <a:ext cx="12192000" cy="712694"/>
          </a:xfrm>
          <a:prstGeom prst="rect">
            <a:avLst/>
          </a:prstGeom>
          <a:solidFill>
            <a:srgbClr val="242C4F"/>
          </a:solidFill>
          <a:ln>
            <a:noFill/>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endParaRPr kumimoji="0" sz="1867" b="0" i="0" u="none" strike="noStrike" kern="0" cap="none" spc="0" normalizeH="0" baseline="0" noProof="0" dirty="0">
              <a:ln>
                <a:noFill/>
              </a:ln>
              <a:solidFill>
                <a:srgbClr val="000000"/>
              </a:solidFill>
              <a:effectLst/>
              <a:uLnTx/>
              <a:uFillTx/>
              <a:latin typeface="Verdana"/>
              <a:ea typeface="Verdana"/>
              <a:cs typeface="Verdana"/>
              <a:sym typeface="Verdana"/>
            </a:endParaRPr>
          </a:p>
        </p:txBody>
      </p:sp>
      <p:sp>
        <p:nvSpPr>
          <p:cNvPr id="4" name="Slide Number Placeholder 5">
            <a:extLst>
              <a:ext uri="{FF2B5EF4-FFF2-40B4-BE49-F238E27FC236}">
                <a16:creationId xmlns:a16="http://schemas.microsoft.com/office/drawing/2014/main" id="{79CFDCFE-9624-367E-B306-690AF8467019}"/>
              </a:ext>
            </a:extLst>
          </p:cNvPr>
          <p:cNvSpPr txBox="1">
            <a:spLocks/>
          </p:cNvSpPr>
          <p:nvPr userDrawn="1"/>
        </p:nvSpPr>
        <p:spPr>
          <a:xfrm>
            <a:off x="9364014" y="6356350"/>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000"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106C7877-C817-4464-A9D8-119395DEDFD0}" type="slidenum">
              <a:rPr kumimoji="0" lang="en-US" sz="1000" b="0" i="0" u="none" strike="noStrike" kern="1200" cap="none" spc="0" normalizeH="0" baseline="0" noProof="0" smtClean="0">
                <a:ln>
                  <a:noFill/>
                </a:ln>
                <a:solidFill>
                  <a:srgbClr val="FFFFFF"/>
                </a:solidFill>
                <a:effectLst/>
                <a:uLnTx/>
                <a:uFillTx/>
                <a:latin typeface="Arial"/>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‹Nº›</a:t>
            </a:fld>
            <a:endParaRPr kumimoji="0" lang="en-US" sz="1000" b="0" i="0" u="none" strike="noStrike" kern="1200" cap="none" spc="0" normalizeH="0" baseline="0" noProof="0" dirty="0">
              <a:ln>
                <a:noFill/>
              </a:ln>
              <a:solidFill>
                <a:srgbClr val="FFFFFF"/>
              </a:solidFill>
              <a:effectLst/>
              <a:uLnTx/>
              <a:uFillTx/>
              <a:latin typeface="Arial"/>
              <a:ea typeface="+mn-ea"/>
              <a:cs typeface="+mn-cs"/>
            </a:endParaRPr>
          </a:p>
        </p:txBody>
      </p:sp>
      <p:sp>
        <p:nvSpPr>
          <p:cNvPr id="2" name="Google Shape;56;p14">
            <a:extLst>
              <a:ext uri="{FF2B5EF4-FFF2-40B4-BE49-F238E27FC236}">
                <a16:creationId xmlns:a16="http://schemas.microsoft.com/office/drawing/2014/main" id="{B81785BD-E71C-DC1B-2F2B-8FD32F33B90E}"/>
              </a:ext>
            </a:extLst>
          </p:cNvPr>
          <p:cNvSpPr>
            <a:spLocks noGrp="1"/>
          </p:cNvSpPr>
          <p:nvPr>
            <p:ph type="pic" idx="4294967295"/>
          </p:nvPr>
        </p:nvSpPr>
        <p:spPr>
          <a:xfrm>
            <a:off x="4727171" y="212561"/>
            <a:ext cx="1962400" cy="1820489"/>
          </a:xfrm>
          <a:prstGeom prst="roundRect">
            <a:avLst>
              <a:gd name="adj" fmla="val 16667"/>
            </a:avLst>
          </a:prstGeom>
          <a:ln w="9525" cap="flat" cmpd="sng">
            <a:solidFill>
              <a:schemeClr val="accent5"/>
            </a:solidFill>
            <a:prstDash val="solid"/>
            <a:round/>
            <a:headEnd type="none" w="sm" len="sm"/>
            <a:tailEnd type="none" w="sm" len="sm"/>
          </a:ln>
        </p:spPr>
        <p:txBody>
          <a:bodyPr/>
          <a:lstStyle/>
          <a:p>
            <a:endParaRPr lang="es-AR"/>
          </a:p>
        </p:txBody>
      </p:sp>
      <p:sp>
        <p:nvSpPr>
          <p:cNvPr id="8" name="Google Shape;57;p14">
            <a:extLst>
              <a:ext uri="{FF2B5EF4-FFF2-40B4-BE49-F238E27FC236}">
                <a16:creationId xmlns:a16="http://schemas.microsoft.com/office/drawing/2014/main" id="{5A1AF7B1-3ECA-7D26-B0D5-50AB56930BB3}"/>
              </a:ext>
            </a:extLst>
          </p:cNvPr>
          <p:cNvSpPr>
            <a:spLocks noGrp="1"/>
          </p:cNvSpPr>
          <p:nvPr>
            <p:ph type="pic" idx="4294967295"/>
          </p:nvPr>
        </p:nvSpPr>
        <p:spPr>
          <a:xfrm>
            <a:off x="2648306" y="212561"/>
            <a:ext cx="1962400" cy="1820489"/>
          </a:xfrm>
          <a:prstGeom prst="roundRect">
            <a:avLst>
              <a:gd name="adj" fmla="val 16667"/>
            </a:avLst>
          </a:prstGeom>
          <a:ln w="9525" cap="flat" cmpd="sng">
            <a:solidFill>
              <a:schemeClr val="accent5"/>
            </a:solidFill>
            <a:prstDash val="solid"/>
            <a:round/>
            <a:headEnd type="none" w="sm" len="sm"/>
            <a:tailEnd type="none" w="sm" len="sm"/>
          </a:ln>
        </p:spPr>
        <p:txBody>
          <a:bodyPr/>
          <a:lstStyle/>
          <a:p>
            <a:endParaRPr lang="es-AR"/>
          </a:p>
        </p:txBody>
      </p:sp>
      <p:sp>
        <p:nvSpPr>
          <p:cNvPr id="10" name="Google Shape;58;p14">
            <a:extLst>
              <a:ext uri="{FF2B5EF4-FFF2-40B4-BE49-F238E27FC236}">
                <a16:creationId xmlns:a16="http://schemas.microsoft.com/office/drawing/2014/main" id="{8F8D4358-9C26-BAF7-A848-004C338C26BF}"/>
              </a:ext>
            </a:extLst>
          </p:cNvPr>
          <p:cNvSpPr>
            <a:spLocks noGrp="1"/>
          </p:cNvSpPr>
          <p:nvPr>
            <p:ph type="pic" idx="4294967295"/>
          </p:nvPr>
        </p:nvSpPr>
        <p:spPr>
          <a:xfrm>
            <a:off x="557954" y="212561"/>
            <a:ext cx="1962400" cy="1820489"/>
          </a:xfrm>
          <a:prstGeom prst="roundRect">
            <a:avLst>
              <a:gd name="adj" fmla="val 16667"/>
            </a:avLst>
          </a:prstGeom>
          <a:ln w="9525" cap="flat" cmpd="sng">
            <a:solidFill>
              <a:schemeClr val="accent5"/>
            </a:solidFill>
            <a:prstDash val="solid"/>
            <a:round/>
            <a:headEnd type="none" w="sm" len="sm"/>
            <a:tailEnd type="none" w="sm" len="sm"/>
          </a:ln>
        </p:spPr>
        <p:txBody>
          <a:bodyPr/>
          <a:lstStyle/>
          <a:p>
            <a:endParaRPr lang="es-AR"/>
          </a:p>
        </p:txBody>
      </p:sp>
      <p:sp>
        <p:nvSpPr>
          <p:cNvPr id="11" name="Google Shape;59;p14">
            <a:extLst>
              <a:ext uri="{FF2B5EF4-FFF2-40B4-BE49-F238E27FC236}">
                <a16:creationId xmlns:a16="http://schemas.microsoft.com/office/drawing/2014/main" id="{BEA7CE5D-3C47-1D5A-8F64-F29A262725B9}"/>
              </a:ext>
            </a:extLst>
          </p:cNvPr>
          <p:cNvSpPr>
            <a:spLocks noGrp="1"/>
          </p:cNvSpPr>
          <p:nvPr>
            <p:ph type="pic" idx="4294967295"/>
          </p:nvPr>
        </p:nvSpPr>
        <p:spPr>
          <a:xfrm>
            <a:off x="4729455" y="2181524"/>
            <a:ext cx="1962400" cy="1820489"/>
          </a:xfrm>
          <a:prstGeom prst="roundRect">
            <a:avLst>
              <a:gd name="adj" fmla="val 16667"/>
            </a:avLst>
          </a:prstGeom>
          <a:ln w="9525" cap="flat" cmpd="sng">
            <a:solidFill>
              <a:schemeClr val="accent5"/>
            </a:solidFill>
            <a:prstDash val="solid"/>
            <a:round/>
            <a:headEnd type="none" w="sm" len="sm"/>
            <a:tailEnd type="none" w="sm" len="sm"/>
          </a:ln>
        </p:spPr>
        <p:txBody>
          <a:bodyPr/>
          <a:lstStyle/>
          <a:p>
            <a:endParaRPr lang="es-AR"/>
          </a:p>
        </p:txBody>
      </p:sp>
      <p:sp>
        <p:nvSpPr>
          <p:cNvPr id="12" name="Google Shape;60;p14">
            <a:extLst>
              <a:ext uri="{FF2B5EF4-FFF2-40B4-BE49-F238E27FC236}">
                <a16:creationId xmlns:a16="http://schemas.microsoft.com/office/drawing/2014/main" id="{733EC03A-E231-3F33-69E4-C7C440FDF5C6}"/>
              </a:ext>
            </a:extLst>
          </p:cNvPr>
          <p:cNvSpPr>
            <a:spLocks noGrp="1"/>
          </p:cNvSpPr>
          <p:nvPr>
            <p:ph type="pic" idx="4294967295"/>
          </p:nvPr>
        </p:nvSpPr>
        <p:spPr>
          <a:xfrm>
            <a:off x="2650590" y="2181524"/>
            <a:ext cx="1962400" cy="1820489"/>
          </a:xfrm>
          <a:prstGeom prst="roundRect">
            <a:avLst>
              <a:gd name="adj" fmla="val 16667"/>
            </a:avLst>
          </a:prstGeom>
          <a:ln w="9525" cap="flat" cmpd="sng">
            <a:solidFill>
              <a:schemeClr val="accent5"/>
            </a:solidFill>
            <a:prstDash val="solid"/>
            <a:round/>
            <a:headEnd type="none" w="sm" len="sm"/>
            <a:tailEnd type="none" w="sm" len="sm"/>
          </a:ln>
        </p:spPr>
        <p:txBody>
          <a:bodyPr/>
          <a:lstStyle/>
          <a:p>
            <a:endParaRPr lang="es-AR"/>
          </a:p>
        </p:txBody>
      </p:sp>
      <p:sp>
        <p:nvSpPr>
          <p:cNvPr id="13" name="Google Shape;61;p14">
            <a:extLst>
              <a:ext uri="{FF2B5EF4-FFF2-40B4-BE49-F238E27FC236}">
                <a16:creationId xmlns:a16="http://schemas.microsoft.com/office/drawing/2014/main" id="{F5E576E9-C7D0-1539-6589-13A4630D69F4}"/>
              </a:ext>
            </a:extLst>
          </p:cNvPr>
          <p:cNvSpPr>
            <a:spLocks noGrp="1"/>
          </p:cNvSpPr>
          <p:nvPr>
            <p:ph type="pic" idx="4294967295"/>
          </p:nvPr>
        </p:nvSpPr>
        <p:spPr>
          <a:xfrm>
            <a:off x="560236" y="2181524"/>
            <a:ext cx="1962400" cy="1820489"/>
          </a:xfrm>
          <a:prstGeom prst="roundRect">
            <a:avLst>
              <a:gd name="adj" fmla="val 16667"/>
            </a:avLst>
          </a:prstGeom>
          <a:ln w="9525" cap="flat" cmpd="sng">
            <a:solidFill>
              <a:schemeClr val="accent5"/>
            </a:solidFill>
            <a:prstDash val="solid"/>
            <a:round/>
            <a:headEnd type="none" w="sm" len="sm"/>
            <a:tailEnd type="none" w="sm" len="sm"/>
          </a:ln>
        </p:spPr>
        <p:txBody>
          <a:bodyPr/>
          <a:lstStyle/>
          <a:p>
            <a:endParaRPr lang="es-AR"/>
          </a:p>
        </p:txBody>
      </p:sp>
      <p:sp>
        <p:nvSpPr>
          <p:cNvPr id="14" name="Google Shape;62;p14">
            <a:extLst>
              <a:ext uri="{FF2B5EF4-FFF2-40B4-BE49-F238E27FC236}">
                <a16:creationId xmlns:a16="http://schemas.microsoft.com/office/drawing/2014/main" id="{576DC363-552B-A5AC-AF86-74FE52E0E0AF}"/>
              </a:ext>
            </a:extLst>
          </p:cNvPr>
          <p:cNvSpPr>
            <a:spLocks noGrp="1"/>
          </p:cNvSpPr>
          <p:nvPr>
            <p:ph type="pic" idx="4294967295"/>
          </p:nvPr>
        </p:nvSpPr>
        <p:spPr>
          <a:xfrm>
            <a:off x="4731722" y="4150488"/>
            <a:ext cx="1962400" cy="1820489"/>
          </a:xfrm>
          <a:prstGeom prst="roundRect">
            <a:avLst>
              <a:gd name="adj" fmla="val 16667"/>
            </a:avLst>
          </a:prstGeom>
          <a:ln w="9525" cap="flat" cmpd="sng">
            <a:solidFill>
              <a:schemeClr val="accent5"/>
            </a:solidFill>
            <a:prstDash val="solid"/>
            <a:round/>
            <a:headEnd type="none" w="sm" len="sm"/>
            <a:tailEnd type="none" w="sm" len="sm"/>
          </a:ln>
        </p:spPr>
        <p:txBody>
          <a:bodyPr/>
          <a:lstStyle/>
          <a:p>
            <a:endParaRPr lang="es-AR"/>
          </a:p>
        </p:txBody>
      </p:sp>
      <p:sp>
        <p:nvSpPr>
          <p:cNvPr id="15" name="Google Shape;63;p14">
            <a:extLst>
              <a:ext uri="{FF2B5EF4-FFF2-40B4-BE49-F238E27FC236}">
                <a16:creationId xmlns:a16="http://schemas.microsoft.com/office/drawing/2014/main" id="{F2B06F42-0355-E277-55F6-D9CC65853D87}"/>
              </a:ext>
            </a:extLst>
          </p:cNvPr>
          <p:cNvSpPr>
            <a:spLocks noGrp="1"/>
          </p:cNvSpPr>
          <p:nvPr>
            <p:ph type="pic" idx="4294967295"/>
          </p:nvPr>
        </p:nvSpPr>
        <p:spPr>
          <a:xfrm>
            <a:off x="2652856" y="4150488"/>
            <a:ext cx="1962400" cy="1820489"/>
          </a:xfrm>
          <a:prstGeom prst="roundRect">
            <a:avLst>
              <a:gd name="adj" fmla="val 16667"/>
            </a:avLst>
          </a:prstGeom>
          <a:ln w="9525" cap="flat" cmpd="sng">
            <a:solidFill>
              <a:schemeClr val="accent5"/>
            </a:solidFill>
            <a:prstDash val="solid"/>
            <a:round/>
            <a:headEnd type="none" w="sm" len="sm"/>
            <a:tailEnd type="none" w="sm" len="sm"/>
          </a:ln>
        </p:spPr>
        <p:txBody>
          <a:bodyPr/>
          <a:lstStyle/>
          <a:p>
            <a:endParaRPr lang="es-AR"/>
          </a:p>
        </p:txBody>
      </p:sp>
      <p:sp>
        <p:nvSpPr>
          <p:cNvPr id="16" name="Google Shape;64;p14">
            <a:extLst>
              <a:ext uri="{FF2B5EF4-FFF2-40B4-BE49-F238E27FC236}">
                <a16:creationId xmlns:a16="http://schemas.microsoft.com/office/drawing/2014/main" id="{CE3389FF-4F20-870E-E633-792FC5312EBA}"/>
              </a:ext>
            </a:extLst>
          </p:cNvPr>
          <p:cNvSpPr>
            <a:spLocks noGrp="1"/>
          </p:cNvSpPr>
          <p:nvPr>
            <p:ph type="pic" idx="4294967295"/>
          </p:nvPr>
        </p:nvSpPr>
        <p:spPr>
          <a:xfrm>
            <a:off x="562503" y="4150488"/>
            <a:ext cx="1962400" cy="1820489"/>
          </a:xfrm>
          <a:prstGeom prst="roundRect">
            <a:avLst>
              <a:gd name="adj" fmla="val 16667"/>
            </a:avLst>
          </a:prstGeom>
          <a:ln w="9525" cap="flat" cmpd="sng">
            <a:solidFill>
              <a:schemeClr val="accent5"/>
            </a:solidFill>
            <a:prstDash val="solid"/>
            <a:round/>
            <a:headEnd type="none" w="sm" len="sm"/>
            <a:tailEnd type="none" w="sm" len="sm"/>
          </a:ln>
        </p:spPr>
        <p:txBody>
          <a:bodyPr/>
          <a:lstStyle/>
          <a:p>
            <a:endParaRPr lang="es-AR"/>
          </a:p>
        </p:txBody>
      </p:sp>
      <p:sp>
        <p:nvSpPr>
          <p:cNvPr id="17" name="Google Shape;65;p14">
            <a:extLst>
              <a:ext uri="{FF2B5EF4-FFF2-40B4-BE49-F238E27FC236}">
                <a16:creationId xmlns:a16="http://schemas.microsoft.com/office/drawing/2014/main" id="{19DD8C75-B7CF-BF99-41B4-4A859ADC8DF5}"/>
              </a:ext>
            </a:extLst>
          </p:cNvPr>
          <p:cNvSpPr>
            <a:spLocks noGrp="1"/>
          </p:cNvSpPr>
          <p:nvPr>
            <p:ph type="pic" idx="4294967295"/>
          </p:nvPr>
        </p:nvSpPr>
        <p:spPr>
          <a:xfrm>
            <a:off x="6845575" y="212561"/>
            <a:ext cx="4786800" cy="5758415"/>
          </a:xfrm>
          <a:prstGeom prst="roundRect">
            <a:avLst>
              <a:gd name="adj" fmla="val 7839"/>
            </a:avLst>
          </a:prstGeom>
          <a:ln w="9525" cap="flat" cmpd="sng">
            <a:solidFill>
              <a:schemeClr val="accent5"/>
            </a:solidFill>
            <a:prstDash val="solid"/>
            <a:round/>
            <a:headEnd type="none" w="sm" len="sm"/>
            <a:tailEnd type="none" w="sm" len="sm"/>
          </a:ln>
        </p:spPr>
        <p:txBody>
          <a:bodyPr/>
          <a:lstStyle/>
          <a:p>
            <a:endParaRPr lang="es-AR"/>
          </a:p>
        </p:txBody>
      </p:sp>
      <p:pic>
        <p:nvPicPr>
          <p:cNvPr id="6" name="Gráfico 5">
            <a:extLst>
              <a:ext uri="{FF2B5EF4-FFF2-40B4-BE49-F238E27FC236}">
                <a16:creationId xmlns:a16="http://schemas.microsoft.com/office/drawing/2014/main" id="{A6EC7B25-FCA5-388E-A147-955CE5DF00F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48804" y="6249976"/>
            <a:ext cx="3566726" cy="468000"/>
          </a:xfrm>
          <a:prstGeom prst="rect">
            <a:avLst/>
          </a:prstGeom>
        </p:spPr>
      </p:pic>
    </p:spTree>
    <p:extLst>
      <p:ext uri="{BB962C8B-B14F-4D97-AF65-F5344CB8AC3E}">
        <p14:creationId xmlns:p14="http://schemas.microsoft.com/office/powerpoint/2010/main" val="4175405842"/>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MECON 1">
  <p:cSld name="MECON 1">
    <p:bg>
      <p:bgPr>
        <a:solidFill>
          <a:srgbClr val="282A4E"/>
        </a:solidFill>
        <a:effectLst/>
      </p:bgPr>
    </p:bg>
    <p:spTree>
      <p:nvGrpSpPr>
        <p:cNvPr id="1" name="Shape 50"/>
        <p:cNvGrpSpPr/>
        <p:nvPr/>
      </p:nvGrpSpPr>
      <p:grpSpPr>
        <a:xfrm>
          <a:off x="0" y="0"/>
          <a:ext cx="0" cy="0"/>
          <a:chOff x="0" y="0"/>
          <a:chExt cx="0" cy="0"/>
        </a:xfrm>
      </p:grpSpPr>
      <p:pic>
        <p:nvPicPr>
          <p:cNvPr id="4" name="Gráfico 3">
            <a:extLst>
              <a:ext uri="{FF2B5EF4-FFF2-40B4-BE49-F238E27FC236}">
                <a16:creationId xmlns:a16="http://schemas.microsoft.com/office/drawing/2014/main" id="{C35D69C7-71FE-EAFF-16C5-3DA64685EBBA}"/>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227299" y="4564691"/>
            <a:ext cx="7133452" cy="936000"/>
          </a:xfrm>
          <a:prstGeom prst="rect">
            <a:avLst/>
          </a:prstGeom>
        </p:spPr>
      </p:pic>
    </p:spTree>
    <p:extLst>
      <p:ext uri="{BB962C8B-B14F-4D97-AF65-F5344CB8AC3E}">
        <p14:creationId xmlns:p14="http://schemas.microsoft.com/office/powerpoint/2010/main" val="27665548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MECON 1" preserve="1">
  <p:cSld name="1_MECON 1">
    <p:bg>
      <p:bgPr>
        <a:solidFill>
          <a:srgbClr val="282A4E"/>
        </a:solidFill>
        <a:effectLst/>
      </p:bgPr>
    </p:bg>
    <p:spTree>
      <p:nvGrpSpPr>
        <p:cNvPr id="1" name="Shape 50"/>
        <p:cNvGrpSpPr/>
        <p:nvPr/>
      </p:nvGrpSpPr>
      <p:grpSpPr>
        <a:xfrm>
          <a:off x="0" y="0"/>
          <a:ext cx="0" cy="0"/>
          <a:chOff x="0" y="0"/>
          <a:chExt cx="0" cy="0"/>
        </a:xfrm>
      </p:grpSpPr>
    </p:spTree>
    <p:extLst>
      <p:ext uri="{BB962C8B-B14F-4D97-AF65-F5344CB8AC3E}">
        <p14:creationId xmlns:p14="http://schemas.microsoft.com/office/powerpoint/2010/main" val="54062821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242C4F"/>
        </a:solidFill>
        <a:effectLst/>
      </p:bgPr>
    </p:bg>
    <p:spTree>
      <p:nvGrpSpPr>
        <p:cNvPr id="1" name="Shape 5"/>
        <p:cNvGrpSpPr/>
        <p:nvPr/>
      </p:nvGrpSpPr>
      <p:grpSpPr>
        <a:xfrm>
          <a:off x="0" y="0"/>
          <a:ext cx="0" cy="0"/>
          <a:chOff x="0" y="0"/>
          <a:chExt cx="0" cy="0"/>
        </a:xfrm>
      </p:grpSpPr>
    </p:spTree>
    <p:extLst>
      <p:ext uri="{BB962C8B-B14F-4D97-AF65-F5344CB8AC3E}">
        <p14:creationId xmlns:p14="http://schemas.microsoft.com/office/powerpoint/2010/main" val="1673149885"/>
      </p:ext>
    </p:extLst>
  </p:cSld>
  <p:clrMap bg1="lt1" tx1="dk1" bg2="dk2" tx2="lt2" accent1="accent1" accent2="accent2" accent3="accent3" accent4="accent4" accent5="accent5" accent6="accent6" hlink="hlink" folHlink="folHlink"/>
  <p:sldLayoutIdLst>
    <p:sldLayoutId id="2147483808" r:id="rId1"/>
    <p:sldLayoutId id="2147483917" r:id="rId2"/>
    <p:sldLayoutId id="2147483811" r:id="rId3"/>
    <p:sldLayoutId id="2147483812" r:id="rId4"/>
    <p:sldLayoutId id="2147483914" r:id="rId5"/>
    <p:sldLayoutId id="2147483915" r:id="rId6"/>
    <p:sldLayoutId id="2147483916" r:id="rId7"/>
    <p:sldLayoutId id="2147483909" r:id="rId8"/>
    <p:sldLayoutId id="2147483918" r:id="rId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notesSlide" Target="../notesSlides/notesSlide11.xml"/><Relationship Id="rId1" Type="http://schemas.openxmlformats.org/officeDocument/2006/relationships/slideLayout" Target="../slideLayouts/slideLayout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225">
          <a:extLst>
            <a:ext uri="{FF2B5EF4-FFF2-40B4-BE49-F238E27FC236}">
              <a16:creationId xmlns:a16="http://schemas.microsoft.com/office/drawing/2014/main" id="{12297AF4-2905-FC25-E494-26E7555C3329}"/>
            </a:ext>
          </a:extLst>
        </p:cNvPr>
        <p:cNvGrpSpPr/>
        <p:nvPr/>
      </p:nvGrpSpPr>
      <p:grpSpPr>
        <a:xfrm>
          <a:off x="0" y="0"/>
          <a:ext cx="0" cy="0"/>
          <a:chOff x="0" y="0"/>
          <a:chExt cx="0" cy="0"/>
        </a:xfrm>
      </p:grpSpPr>
      <p:sp>
        <p:nvSpPr>
          <p:cNvPr id="9" name="Google Shape;178;p43">
            <a:extLst>
              <a:ext uri="{FF2B5EF4-FFF2-40B4-BE49-F238E27FC236}">
                <a16:creationId xmlns:a16="http://schemas.microsoft.com/office/drawing/2014/main" id="{5F353981-0AA1-8983-562E-81C047F4D0A0}"/>
              </a:ext>
            </a:extLst>
          </p:cNvPr>
          <p:cNvSpPr txBox="1"/>
          <p:nvPr/>
        </p:nvSpPr>
        <p:spPr>
          <a:xfrm>
            <a:off x="1149271" y="1313094"/>
            <a:ext cx="9893458" cy="1969963"/>
          </a:xfrm>
          <a:prstGeom prst="rect">
            <a:avLst/>
          </a:prstGeom>
          <a:noFill/>
          <a:ln>
            <a:noFill/>
          </a:ln>
        </p:spPr>
        <p:txBody>
          <a:bodyPr spcFirstLastPara="1" wrap="square" lIns="0" tIns="0" rIns="0" bIns="0" anchor="ctr" anchorCtr="0">
            <a:spAutoFit/>
          </a:bodyPr>
          <a:lstStyle/>
          <a:p>
            <a:pPr>
              <a:buClr>
                <a:srgbClr val="000000"/>
              </a:buClr>
              <a:buSzPts val="4000"/>
            </a:pPr>
            <a:r>
              <a:rPr lang="es-AR" sz="4267" b="1" dirty="0">
                <a:solidFill>
                  <a:srgbClr val="FFFFFF"/>
                </a:solidFill>
                <a:latin typeface="Montserrat" panose="02000505000000020004" pitchFamily="2" charset="0"/>
                <a:ea typeface="Lora"/>
                <a:cs typeface="Lora"/>
                <a:sym typeface="Lora"/>
              </a:rPr>
              <a:t>INTI</a:t>
            </a:r>
          </a:p>
          <a:p>
            <a:pPr>
              <a:buClr>
                <a:srgbClr val="000000"/>
              </a:buClr>
              <a:buSzPts val="4000"/>
            </a:pPr>
            <a:r>
              <a:rPr lang="es-AR" sz="4267" b="1" dirty="0">
                <a:solidFill>
                  <a:srgbClr val="FFFFFF"/>
                </a:solidFill>
                <a:latin typeface="Lora"/>
                <a:ea typeface="Lora"/>
                <a:cs typeface="Lora"/>
                <a:sym typeface="Lora"/>
              </a:rPr>
              <a:t>YOLO: Visión computacional</a:t>
            </a:r>
            <a:br>
              <a:rPr lang="es-AR" sz="4267" b="1" dirty="0">
                <a:solidFill>
                  <a:srgbClr val="FFFFFF"/>
                </a:solidFill>
                <a:latin typeface="Lora"/>
                <a:ea typeface="Lora"/>
                <a:cs typeface="Lora"/>
                <a:sym typeface="Lora"/>
              </a:rPr>
            </a:br>
            <a:r>
              <a:rPr lang="es-AR" sz="4267" b="1" dirty="0">
                <a:solidFill>
                  <a:srgbClr val="FFFFFF"/>
                </a:solidFill>
                <a:latin typeface="Lora"/>
                <a:ea typeface="Lora"/>
                <a:cs typeface="Lora"/>
                <a:sym typeface="Lora"/>
              </a:rPr>
              <a:t>en tiempo real</a:t>
            </a:r>
          </a:p>
        </p:txBody>
      </p:sp>
      <p:cxnSp>
        <p:nvCxnSpPr>
          <p:cNvPr id="10" name="Google Shape;179;p43">
            <a:extLst>
              <a:ext uri="{FF2B5EF4-FFF2-40B4-BE49-F238E27FC236}">
                <a16:creationId xmlns:a16="http://schemas.microsoft.com/office/drawing/2014/main" id="{104274F6-85A0-48D3-9382-E311FEF52D17}"/>
              </a:ext>
            </a:extLst>
          </p:cNvPr>
          <p:cNvCxnSpPr>
            <a:cxnSpLocks/>
          </p:cNvCxnSpPr>
          <p:nvPr/>
        </p:nvCxnSpPr>
        <p:spPr>
          <a:xfrm rot="10800000">
            <a:off x="1149271" y="4212751"/>
            <a:ext cx="3772800" cy="0"/>
          </a:xfrm>
          <a:prstGeom prst="straightConnector1">
            <a:avLst/>
          </a:prstGeom>
          <a:noFill/>
          <a:ln w="9525" cap="flat" cmpd="sng">
            <a:solidFill>
              <a:srgbClr val="E7BA61"/>
            </a:solidFill>
            <a:prstDash val="solid"/>
            <a:round/>
            <a:headEnd type="none" w="sm" len="sm"/>
            <a:tailEnd type="none" w="sm" len="sm"/>
          </a:ln>
        </p:spPr>
      </p:cxnSp>
      <p:sp>
        <p:nvSpPr>
          <p:cNvPr id="11" name="Google Shape;180;p43">
            <a:extLst>
              <a:ext uri="{FF2B5EF4-FFF2-40B4-BE49-F238E27FC236}">
                <a16:creationId xmlns:a16="http://schemas.microsoft.com/office/drawing/2014/main" id="{3B72B4C0-A4ED-C5ED-CE52-134596958922}"/>
              </a:ext>
            </a:extLst>
          </p:cNvPr>
          <p:cNvSpPr txBox="1"/>
          <p:nvPr/>
        </p:nvSpPr>
        <p:spPr>
          <a:xfrm>
            <a:off x="1149270" y="4603184"/>
            <a:ext cx="3660345" cy="369332"/>
          </a:xfrm>
          <a:prstGeom prst="rect">
            <a:avLst/>
          </a:prstGeom>
          <a:noFill/>
          <a:ln>
            <a:noFill/>
          </a:ln>
        </p:spPr>
        <p:txBody>
          <a:bodyPr spcFirstLastPara="1" wrap="square" lIns="0" tIns="0" rIns="0" bIns="0" anchor="t" anchorCtr="0">
            <a:spAutoFit/>
          </a:bodyPr>
          <a:lstStyle/>
          <a:p>
            <a:pPr>
              <a:buClr>
                <a:srgbClr val="000000"/>
              </a:buClr>
              <a:buSzPts val="1900"/>
            </a:pPr>
            <a:r>
              <a:rPr lang="es-AR" sz="2400" dirty="0">
                <a:solidFill>
                  <a:schemeClr val="lt1"/>
                </a:solidFill>
                <a:latin typeface="Montserrat"/>
                <a:ea typeface="Montserrat"/>
                <a:cs typeface="Montserrat"/>
                <a:sym typeface="Montserrat"/>
              </a:rPr>
              <a:t>Julio/2026 </a:t>
            </a:r>
          </a:p>
        </p:txBody>
      </p:sp>
    </p:spTree>
    <p:extLst>
      <p:ext uri="{BB962C8B-B14F-4D97-AF65-F5344CB8AC3E}">
        <p14:creationId xmlns:p14="http://schemas.microsoft.com/office/powerpoint/2010/main" val="33757412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291">
          <a:extLst>
            <a:ext uri="{FF2B5EF4-FFF2-40B4-BE49-F238E27FC236}">
              <a16:creationId xmlns:a16="http://schemas.microsoft.com/office/drawing/2014/main" id="{D4029CE5-B49E-A875-8EE8-B672C5C6039D}"/>
            </a:ext>
          </a:extLst>
        </p:cNvPr>
        <p:cNvGrpSpPr/>
        <p:nvPr/>
      </p:nvGrpSpPr>
      <p:grpSpPr>
        <a:xfrm>
          <a:off x="0" y="0"/>
          <a:ext cx="0" cy="0"/>
          <a:chOff x="0" y="0"/>
          <a:chExt cx="0" cy="0"/>
        </a:xfrm>
      </p:grpSpPr>
      <p:pic>
        <p:nvPicPr>
          <p:cNvPr id="2" name="Imagen 1">
            <a:extLst>
              <a:ext uri="{FF2B5EF4-FFF2-40B4-BE49-F238E27FC236}">
                <a16:creationId xmlns:a16="http://schemas.microsoft.com/office/drawing/2014/main" id="{F2A0C338-E5BC-1F5D-7E1E-4E248B96FEA0}"/>
              </a:ext>
            </a:extLst>
          </p:cNvPr>
          <p:cNvPicPr>
            <a:picLocks noChangeAspect="1"/>
          </p:cNvPicPr>
          <p:nvPr/>
        </p:nvPicPr>
        <p:blipFill>
          <a:blip r:embed="rId3">
            <a:extLst>
              <a:ext uri="{28A0092B-C50C-407E-A947-70E740481C1C}">
                <a14:useLocalDpi xmlns:a14="http://schemas.microsoft.com/office/drawing/2010/main" val="0"/>
              </a:ext>
            </a:extLst>
          </a:blip>
          <a:stretch/>
        </p:blipFill>
        <p:spPr>
          <a:xfrm>
            <a:off x="81482" y="199178"/>
            <a:ext cx="8700380" cy="5800254"/>
          </a:xfrm>
          <a:prstGeom prst="rect">
            <a:avLst/>
          </a:prstGeom>
        </p:spPr>
      </p:pic>
      <p:sp>
        <p:nvSpPr>
          <p:cNvPr id="293" name="Google Shape;293;p52">
            <a:extLst>
              <a:ext uri="{FF2B5EF4-FFF2-40B4-BE49-F238E27FC236}">
                <a16:creationId xmlns:a16="http://schemas.microsoft.com/office/drawing/2014/main" id="{B09DF970-4168-71B9-9AD2-049A69459C2F}"/>
              </a:ext>
            </a:extLst>
          </p:cNvPr>
          <p:cNvSpPr txBox="1"/>
          <p:nvPr/>
        </p:nvSpPr>
        <p:spPr>
          <a:xfrm>
            <a:off x="8999104" y="87956"/>
            <a:ext cx="2888096" cy="847243"/>
          </a:xfrm>
          <a:prstGeom prst="rect">
            <a:avLst/>
          </a:prstGeom>
          <a:noFill/>
          <a:ln>
            <a:noFill/>
          </a:ln>
        </p:spPr>
        <p:txBody>
          <a:bodyPr spcFirstLastPara="1" wrap="square" lIns="91433" tIns="45700" rIns="91433" bIns="45700" anchor="t" anchorCtr="0">
            <a:spAutoFit/>
          </a:bodyPr>
          <a:lstStyle/>
          <a:p>
            <a:pPr marL="0" marR="0" lvl="0" indent="0" algn="l" defTabSz="914400" rtl="0" eaLnBrk="1" fontAlgn="auto" latinLnBrk="0" hangingPunct="1">
              <a:lnSpc>
                <a:spcPct val="115000"/>
              </a:lnSpc>
              <a:spcBef>
                <a:spcPts val="0"/>
              </a:spcBef>
              <a:spcAft>
                <a:spcPts val="0"/>
              </a:spcAft>
              <a:buClrTx/>
              <a:buSzTx/>
              <a:buFontTx/>
              <a:buNone/>
              <a:tabLst/>
              <a:defRPr/>
            </a:pPr>
            <a:r>
              <a:rPr kumimoji="0" lang="es-AR" sz="2133" b="1" i="0" u="none" strike="noStrike" kern="1200" cap="none" spc="0" normalizeH="0" baseline="0" noProof="0" dirty="0">
                <a:ln>
                  <a:noFill/>
                </a:ln>
                <a:solidFill>
                  <a:srgbClr val="252C4F"/>
                </a:solidFill>
                <a:effectLst/>
                <a:uLnTx/>
                <a:uFillTx/>
                <a:latin typeface="Lora"/>
                <a:ea typeface="Lora"/>
                <a:cs typeface="Lora"/>
                <a:sym typeface="Lora"/>
              </a:rPr>
              <a:t>¿Qué es una Red Neuronal Artificial?</a:t>
            </a:r>
            <a:endParaRPr kumimoji="0" lang="es-AR" sz="2133" i="0" u="none" strike="noStrike" kern="1200" cap="none" spc="0" normalizeH="0" baseline="0" noProof="0" dirty="0">
              <a:ln>
                <a:noFill/>
              </a:ln>
              <a:solidFill>
                <a:srgbClr val="252C4F"/>
              </a:solidFill>
              <a:effectLst/>
              <a:uLnTx/>
              <a:uFillTx/>
              <a:latin typeface="Lora"/>
              <a:ea typeface="Lora"/>
              <a:cs typeface="Lora"/>
              <a:sym typeface="Lora"/>
            </a:endParaRPr>
          </a:p>
        </p:txBody>
      </p:sp>
      <p:sp>
        <p:nvSpPr>
          <p:cNvPr id="7" name="Google Shape;293;p52">
            <a:extLst>
              <a:ext uri="{FF2B5EF4-FFF2-40B4-BE49-F238E27FC236}">
                <a16:creationId xmlns:a16="http://schemas.microsoft.com/office/drawing/2014/main" id="{7B237590-F517-A831-53CE-AC6A74723D60}"/>
              </a:ext>
            </a:extLst>
          </p:cNvPr>
          <p:cNvSpPr txBox="1"/>
          <p:nvPr/>
        </p:nvSpPr>
        <p:spPr>
          <a:xfrm>
            <a:off x="8999104" y="935199"/>
            <a:ext cx="2888096" cy="4999470"/>
          </a:xfrm>
          <a:prstGeom prst="rect">
            <a:avLst/>
          </a:prstGeom>
          <a:noFill/>
          <a:ln>
            <a:noFill/>
          </a:ln>
        </p:spPr>
        <p:txBody>
          <a:bodyPr spcFirstLastPara="1" wrap="square" lIns="91433" tIns="45700" rIns="91433" bIns="45700" anchor="t" anchorCtr="0">
            <a:spAutoFit/>
          </a:bodyPr>
          <a:lstStyle/>
          <a:p>
            <a:pPr lvl="0">
              <a:lnSpc>
                <a:spcPct val="115000"/>
              </a:lnSpc>
              <a:defRPr/>
            </a:pPr>
            <a:r>
              <a:rPr lang="es-AR" sz="2133" dirty="0">
                <a:solidFill>
                  <a:srgbClr val="252C4F"/>
                </a:solidFill>
                <a:latin typeface="Lora"/>
                <a:ea typeface="Lora"/>
                <a:cs typeface="Lora"/>
                <a:sym typeface="Lora"/>
              </a:rPr>
              <a:t>Es un modelo computacional que imita las neuronas del cerebro: nodos interconectados que transmiten señales ponderadas para aprender patrones. </a:t>
            </a:r>
          </a:p>
          <a:p>
            <a:pPr lvl="0">
              <a:lnSpc>
                <a:spcPct val="115000"/>
              </a:lnSpc>
              <a:defRPr/>
            </a:pPr>
            <a:r>
              <a:rPr lang="es-AR" sz="2133" dirty="0">
                <a:solidFill>
                  <a:srgbClr val="252C4F"/>
                </a:solidFill>
                <a:latin typeface="Lora"/>
                <a:ea typeface="Lora"/>
                <a:cs typeface="Lora"/>
                <a:sym typeface="Lora"/>
              </a:rPr>
              <a:t>Se entrena con datos y ajusta sus pesos internos para minimizar errores en cada iteración.</a:t>
            </a:r>
          </a:p>
        </p:txBody>
      </p:sp>
    </p:spTree>
    <p:extLst>
      <p:ext uri="{BB962C8B-B14F-4D97-AF65-F5344CB8AC3E}">
        <p14:creationId xmlns:p14="http://schemas.microsoft.com/office/powerpoint/2010/main" val="22242381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291">
          <a:extLst>
            <a:ext uri="{FF2B5EF4-FFF2-40B4-BE49-F238E27FC236}">
              <a16:creationId xmlns:a16="http://schemas.microsoft.com/office/drawing/2014/main" id="{BE58429B-C0FD-9292-CAF4-6AF097F74BE3}"/>
            </a:ext>
          </a:extLst>
        </p:cNvPr>
        <p:cNvGrpSpPr/>
        <p:nvPr/>
      </p:nvGrpSpPr>
      <p:grpSpPr>
        <a:xfrm>
          <a:off x="0" y="0"/>
          <a:ext cx="0" cy="0"/>
          <a:chOff x="0" y="0"/>
          <a:chExt cx="0" cy="0"/>
        </a:xfrm>
      </p:grpSpPr>
      <p:pic>
        <p:nvPicPr>
          <p:cNvPr id="2" name="Imagen 1">
            <a:extLst>
              <a:ext uri="{FF2B5EF4-FFF2-40B4-BE49-F238E27FC236}">
                <a16:creationId xmlns:a16="http://schemas.microsoft.com/office/drawing/2014/main" id="{D72319EC-7502-9336-A727-3F576A045027}"/>
              </a:ext>
            </a:extLst>
          </p:cNvPr>
          <p:cNvPicPr>
            <a:picLocks noChangeAspect="1"/>
          </p:cNvPicPr>
          <p:nvPr/>
        </p:nvPicPr>
        <p:blipFill>
          <a:blip r:embed="rId3">
            <a:extLst>
              <a:ext uri="{28A0092B-C50C-407E-A947-70E740481C1C}">
                <a14:useLocalDpi xmlns:a14="http://schemas.microsoft.com/office/drawing/2010/main" val="0"/>
              </a:ext>
            </a:extLst>
          </a:blip>
          <a:stretch/>
        </p:blipFill>
        <p:spPr>
          <a:xfrm>
            <a:off x="0" y="153908"/>
            <a:ext cx="8795664" cy="5604095"/>
          </a:xfrm>
          <a:prstGeom prst="rect">
            <a:avLst/>
          </a:prstGeom>
        </p:spPr>
      </p:pic>
      <p:sp>
        <p:nvSpPr>
          <p:cNvPr id="293" name="Google Shape;293;p52">
            <a:extLst>
              <a:ext uri="{FF2B5EF4-FFF2-40B4-BE49-F238E27FC236}">
                <a16:creationId xmlns:a16="http://schemas.microsoft.com/office/drawing/2014/main" id="{0A5A2675-63DB-D1C1-C623-77BBEA69D822}"/>
              </a:ext>
            </a:extLst>
          </p:cNvPr>
          <p:cNvSpPr txBox="1"/>
          <p:nvPr/>
        </p:nvSpPr>
        <p:spPr>
          <a:xfrm>
            <a:off x="8999104" y="87956"/>
            <a:ext cx="2888096" cy="1224718"/>
          </a:xfrm>
          <a:prstGeom prst="rect">
            <a:avLst/>
          </a:prstGeom>
          <a:noFill/>
          <a:ln>
            <a:noFill/>
          </a:ln>
        </p:spPr>
        <p:txBody>
          <a:bodyPr spcFirstLastPara="1" wrap="square" lIns="91433" tIns="45700" rIns="91433" bIns="45700" anchor="t" anchorCtr="0">
            <a:spAutoFit/>
          </a:bodyPr>
          <a:lstStyle/>
          <a:p>
            <a:pPr marL="0" marR="0" lvl="0" indent="0" algn="l" defTabSz="914400" rtl="0" eaLnBrk="1" fontAlgn="auto" latinLnBrk="0" hangingPunct="1">
              <a:lnSpc>
                <a:spcPct val="115000"/>
              </a:lnSpc>
              <a:spcBef>
                <a:spcPts val="0"/>
              </a:spcBef>
              <a:spcAft>
                <a:spcPts val="0"/>
              </a:spcAft>
              <a:buClrTx/>
              <a:buSzTx/>
              <a:buFontTx/>
              <a:buNone/>
              <a:tabLst/>
              <a:defRPr/>
            </a:pPr>
            <a:r>
              <a:rPr kumimoji="0" lang="es-AR" sz="2133" b="1" i="0" u="none" strike="noStrike" kern="1200" cap="none" spc="0" normalizeH="0" baseline="0" noProof="0" dirty="0">
                <a:ln>
                  <a:noFill/>
                </a:ln>
                <a:solidFill>
                  <a:srgbClr val="252C4F"/>
                </a:solidFill>
                <a:effectLst/>
                <a:uLnTx/>
                <a:uFillTx/>
                <a:latin typeface="Lora"/>
                <a:ea typeface="Lora"/>
                <a:cs typeface="Lora"/>
                <a:sym typeface="Lora"/>
              </a:rPr>
              <a:t>Redes Neuronales Convolucionales (CNN)</a:t>
            </a:r>
            <a:endParaRPr kumimoji="0" lang="es-AR" sz="2133" i="0" u="none" strike="noStrike" kern="1200" cap="none" spc="0" normalizeH="0" baseline="0" noProof="0" dirty="0">
              <a:ln>
                <a:noFill/>
              </a:ln>
              <a:solidFill>
                <a:srgbClr val="252C4F"/>
              </a:solidFill>
              <a:effectLst/>
              <a:uLnTx/>
              <a:uFillTx/>
              <a:latin typeface="Lora"/>
              <a:ea typeface="Lora"/>
              <a:cs typeface="Lora"/>
              <a:sym typeface="Lora"/>
            </a:endParaRPr>
          </a:p>
        </p:txBody>
      </p:sp>
      <p:sp>
        <p:nvSpPr>
          <p:cNvPr id="7" name="Google Shape;293;p52">
            <a:extLst>
              <a:ext uri="{FF2B5EF4-FFF2-40B4-BE49-F238E27FC236}">
                <a16:creationId xmlns:a16="http://schemas.microsoft.com/office/drawing/2014/main" id="{482489ED-2268-E4E6-D0F5-B8E9971EABC9}"/>
              </a:ext>
            </a:extLst>
          </p:cNvPr>
          <p:cNvSpPr txBox="1"/>
          <p:nvPr/>
        </p:nvSpPr>
        <p:spPr>
          <a:xfrm>
            <a:off x="8999104" y="1405980"/>
            <a:ext cx="2888096" cy="3867044"/>
          </a:xfrm>
          <a:prstGeom prst="rect">
            <a:avLst/>
          </a:prstGeom>
          <a:noFill/>
          <a:ln>
            <a:noFill/>
          </a:ln>
        </p:spPr>
        <p:txBody>
          <a:bodyPr spcFirstLastPara="1" wrap="square" lIns="91433" tIns="45700" rIns="91433" bIns="45700" anchor="t" anchorCtr="0">
            <a:spAutoFit/>
          </a:bodyPr>
          <a:lstStyle/>
          <a:p>
            <a:pPr lvl="0">
              <a:lnSpc>
                <a:spcPct val="115000"/>
              </a:lnSpc>
              <a:defRPr/>
            </a:pPr>
            <a:r>
              <a:rPr lang="es-AR" sz="2133" dirty="0">
                <a:solidFill>
                  <a:srgbClr val="252C4F"/>
                </a:solidFill>
                <a:latin typeface="Lora"/>
                <a:ea typeface="Lora"/>
                <a:cs typeface="Lora"/>
                <a:sym typeface="Lora"/>
              </a:rPr>
              <a:t>Las CNN son el estándar para procesar imágenes. Usan filtros convolucionales que se deslizan sobre la imagen para detectar características visuales de forma jerárquica</a:t>
            </a:r>
          </a:p>
        </p:txBody>
      </p:sp>
    </p:spTree>
    <p:extLst>
      <p:ext uri="{BB962C8B-B14F-4D97-AF65-F5344CB8AC3E}">
        <p14:creationId xmlns:p14="http://schemas.microsoft.com/office/powerpoint/2010/main" val="57064660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147">
          <a:extLst>
            <a:ext uri="{FF2B5EF4-FFF2-40B4-BE49-F238E27FC236}">
              <a16:creationId xmlns:a16="http://schemas.microsoft.com/office/drawing/2014/main" id="{F1FB4B21-D4EE-07B8-8DDC-5380DA9011F4}"/>
            </a:ext>
          </a:extLst>
        </p:cNvPr>
        <p:cNvGrpSpPr/>
        <p:nvPr/>
      </p:nvGrpSpPr>
      <p:grpSpPr>
        <a:xfrm>
          <a:off x="0" y="0"/>
          <a:ext cx="0" cy="0"/>
          <a:chOff x="0" y="0"/>
          <a:chExt cx="0" cy="0"/>
        </a:xfrm>
      </p:grpSpPr>
      <p:sp>
        <p:nvSpPr>
          <p:cNvPr id="150" name="Google Shape;150;p18">
            <a:extLst>
              <a:ext uri="{FF2B5EF4-FFF2-40B4-BE49-F238E27FC236}">
                <a16:creationId xmlns:a16="http://schemas.microsoft.com/office/drawing/2014/main" id="{0BF56F21-1824-5B97-1C44-39D447470936}"/>
              </a:ext>
            </a:extLst>
          </p:cNvPr>
          <p:cNvSpPr/>
          <p:nvPr/>
        </p:nvSpPr>
        <p:spPr>
          <a:xfrm>
            <a:off x="9667422" y="939367"/>
            <a:ext cx="2189600" cy="338400"/>
          </a:xfrm>
          <a:prstGeom prst="rect">
            <a:avLst/>
          </a:prstGeom>
          <a:noFill/>
          <a:ln>
            <a:noFill/>
          </a:ln>
        </p:spPr>
        <p:txBody>
          <a:bodyPr spcFirstLastPara="1" wrap="square" lIns="91433" tIns="45700" rIns="91433" bIns="45700" anchor="t" anchorCtr="0">
            <a:noAutofit/>
          </a:bodyPr>
          <a:lstStyle/>
          <a:p>
            <a:pPr defTabSz="1219170">
              <a:buClr>
                <a:srgbClr val="000000"/>
              </a:buClr>
              <a:buSzPts val="1200"/>
            </a:pPr>
            <a:r>
              <a:rPr lang="es-AR" altLang="ko" sz="1600" b="1" kern="0" dirty="0">
                <a:solidFill>
                  <a:srgbClr val="242C4F"/>
                </a:solidFill>
                <a:latin typeface="Montserrat"/>
                <a:ea typeface="Montserrat"/>
                <a:cs typeface="Montserrat"/>
                <a:sym typeface="Montserrat"/>
              </a:rPr>
              <a:t>Convolución</a:t>
            </a:r>
            <a:endParaRPr sz="1600" b="1" kern="0" dirty="0">
              <a:solidFill>
                <a:srgbClr val="242C4F"/>
              </a:solidFill>
              <a:latin typeface="Montserrat"/>
              <a:ea typeface="Montserrat"/>
              <a:cs typeface="Montserrat"/>
              <a:sym typeface="Montserrat"/>
            </a:endParaRPr>
          </a:p>
        </p:txBody>
      </p:sp>
      <p:sp>
        <p:nvSpPr>
          <p:cNvPr id="151" name="Google Shape;151;p18">
            <a:extLst>
              <a:ext uri="{FF2B5EF4-FFF2-40B4-BE49-F238E27FC236}">
                <a16:creationId xmlns:a16="http://schemas.microsoft.com/office/drawing/2014/main" id="{6DECF23F-972F-176A-361F-96E053951588}"/>
              </a:ext>
            </a:extLst>
          </p:cNvPr>
          <p:cNvSpPr/>
          <p:nvPr/>
        </p:nvSpPr>
        <p:spPr>
          <a:xfrm>
            <a:off x="9667422" y="1319842"/>
            <a:ext cx="2189600" cy="1015600"/>
          </a:xfrm>
          <a:prstGeom prst="rect">
            <a:avLst/>
          </a:prstGeom>
          <a:noFill/>
          <a:ln>
            <a:noFill/>
          </a:ln>
        </p:spPr>
        <p:txBody>
          <a:bodyPr spcFirstLastPara="1" wrap="square" lIns="91433" tIns="45700" rIns="91433" bIns="45700" anchor="t" anchorCtr="0">
            <a:noAutofit/>
          </a:bodyPr>
          <a:lstStyle/>
          <a:p>
            <a:pPr defTabSz="1219170">
              <a:buClr>
                <a:srgbClr val="000000"/>
              </a:buClr>
              <a:buSzPts val="900"/>
            </a:pPr>
            <a:r>
              <a:rPr lang="es-AR" altLang="ko" sz="1200" kern="0" dirty="0">
                <a:solidFill>
                  <a:srgbClr val="242C4F"/>
                </a:solidFill>
                <a:latin typeface="Montserrat"/>
                <a:ea typeface="Montserrat"/>
                <a:cs typeface="Montserrat"/>
                <a:sym typeface="Montserrat"/>
              </a:rPr>
              <a:t>Filtros detectan bordes, texturas y formas locales.</a:t>
            </a:r>
            <a:endParaRPr sz="1200" kern="0" dirty="0">
              <a:solidFill>
                <a:srgbClr val="242C4F"/>
              </a:solidFill>
              <a:latin typeface="Montserrat"/>
              <a:ea typeface="Montserrat"/>
              <a:cs typeface="Montserrat"/>
              <a:sym typeface="Montserrat"/>
            </a:endParaRPr>
          </a:p>
        </p:txBody>
      </p:sp>
      <p:sp>
        <p:nvSpPr>
          <p:cNvPr id="175" name="Google Shape;175;p18">
            <a:extLst>
              <a:ext uri="{FF2B5EF4-FFF2-40B4-BE49-F238E27FC236}">
                <a16:creationId xmlns:a16="http://schemas.microsoft.com/office/drawing/2014/main" id="{56E1562E-AA93-DD47-7AF6-1277EA92BAAE}"/>
              </a:ext>
            </a:extLst>
          </p:cNvPr>
          <p:cNvSpPr/>
          <p:nvPr/>
        </p:nvSpPr>
        <p:spPr>
          <a:xfrm>
            <a:off x="9667422" y="1949287"/>
            <a:ext cx="2189600" cy="338400"/>
          </a:xfrm>
          <a:prstGeom prst="rect">
            <a:avLst/>
          </a:prstGeom>
          <a:noFill/>
          <a:ln>
            <a:noFill/>
          </a:ln>
        </p:spPr>
        <p:txBody>
          <a:bodyPr spcFirstLastPara="1" wrap="square" lIns="91433" tIns="45700" rIns="91433" bIns="45700" anchor="t" anchorCtr="0">
            <a:noAutofit/>
          </a:bodyPr>
          <a:lstStyle/>
          <a:p>
            <a:pPr defTabSz="1219170">
              <a:buClr>
                <a:srgbClr val="000000"/>
              </a:buClr>
              <a:buSzPts val="1200"/>
            </a:pPr>
            <a:r>
              <a:rPr lang="es-AR" altLang="ko" sz="1600" b="1" kern="0" dirty="0" err="1">
                <a:solidFill>
                  <a:srgbClr val="242C4F"/>
                </a:solidFill>
                <a:latin typeface="Montserrat"/>
                <a:ea typeface="Montserrat"/>
                <a:cs typeface="Montserrat"/>
                <a:sym typeface="Montserrat"/>
              </a:rPr>
              <a:t>Pooling</a:t>
            </a:r>
            <a:endParaRPr sz="1600" b="1" kern="0" dirty="0">
              <a:solidFill>
                <a:srgbClr val="242C4F"/>
              </a:solidFill>
              <a:latin typeface="Montserrat"/>
              <a:ea typeface="Montserrat"/>
              <a:cs typeface="Montserrat"/>
              <a:sym typeface="Montserrat"/>
            </a:endParaRPr>
          </a:p>
        </p:txBody>
      </p:sp>
      <p:sp>
        <p:nvSpPr>
          <p:cNvPr id="176" name="Google Shape;176;p18">
            <a:extLst>
              <a:ext uri="{FF2B5EF4-FFF2-40B4-BE49-F238E27FC236}">
                <a16:creationId xmlns:a16="http://schemas.microsoft.com/office/drawing/2014/main" id="{BC7A1B79-88F8-0654-5330-A6918DA2A061}"/>
              </a:ext>
            </a:extLst>
          </p:cNvPr>
          <p:cNvSpPr/>
          <p:nvPr/>
        </p:nvSpPr>
        <p:spPr>
          <a:xfrm>
            <a:off x="9667422" y="2329762"/>
            <a:ext cx="2189600" cy="1015600"/>
          </a:xfrm>
          <a:prstGeom prst="rect">
            <a:avLst/>
          </a:prstGeom>
          <a:noFill/>
          <a:ln>
            <a:noFill/>
          </a:ln>
        </p:spPr>
        <p:txBody>
          <a:bodyPr spcFirstLastPara="1" wrap="square" lIns="91433" tIns="45700" rIns="91433" bIns="45700" anchor="t" anchorCtr="0">
            <a:noAutofit/>
          </a:bodyPr>
          <a:lstStyle/>
          <a:p>
            <a:pPr defTabSz="1219170">
              <a:buClr>
                <a:srgbClr val="000000"/>
              </a:buClr>
              <a:buSzPts val="900"/>
            </a:pPr>
            <a:r>
              <a:rPr lang="es-AR" altLang="ko" sz="1200" kern="0" dirty="0">
                <a:solidFill>
                  <a:srgbClr val="242C4F"/>
                </a:solidFill>
                <a:latin typeface="Montserrat"/>
                <a:ea typeface="Montserrat"/>
                <a:cs typeface="Montserrat"/>
                <a:sym typeface="Montserrat"/>
              </a:rPr>
              <a:t>Reduce la dimensionalidad preservando la información relevante.</a:t>
            </a:r>
            <a:endParaRPr sz="1200" kern="0" dirty="0">
              <a:solidFill>
                <a:srgbClr val="242C4F"/>
              </a:solidFill>
              <a:latin typeface="Montserrat"/>
              <a:ea typeface="Montserrat"/>
              <a:cs typeface="Montserrat"/>
              <a:sym typeface="Montserrat"/>
            </a:endParaRPr>
          </a:p>
        </p:txBody>
      </p:sp>
      <p:sp>
        <p:nvSpPr>
          <p:cNvPr id="179" name="Google Shape;179;p18">
            <a:extLst>
              <a:ext uri="{FF2B5EF4-FFF2-40B4-BE49-F238E27FC236}">
                <a16:creationId xmlns:a16="http://schemas.microsoft.com/office/drawing/2014/main" id="{CE653EA7-927A-316A-D6A3-559E1DD24F63}"/>
              </a:ext>
            </a:extLst>
          </p:cNvPr>
          <p:cNvSpPr/>
          <p:nvPr/>
        </p:nvSpPr>
        <p:spPr>
          <a:xfrm>
            <a:off x="9667422" y="3387437"/>
            <a:ext cx="2189600" cy="338400"/>
          </a:xfrm>
          <a:prstGeom prst="rect">
            <a:avLst/>
          </a:prstGeom>
          <a:noFill/>
          <a:ln>
            <a:noFill/>
          </a:ln>
        </p:spPr>
        <p:txBody>
          <a:bodyPr spcFirstLastPara="1" wrap="square" lIns="91433" tIns="45700" rIns="91433" bIns="45700" anchor="t" anchorCtr="0">
            <a:noAutofit/>
          </a:bodyPr>
          <a:lstStyle/>
          <a:p>
            <a:pPr defTabSz="1219170">
              <a:buClr>
                <a:srgbClr val="000000"/>
              </a:buClr>
              <a:buSzPts val="1200"/>
            </a:pPr>
            <a:r>
              <a:rPr lang="es-AR" altLang="ko" sz="1600" b="1" kern="0" dirty="0">
                <a:solidFill>
                  <a:srgbClr val="242C4F"/>
                </a:solidFill>
                <a:latin typeface="Montserrat"/>
                <a:ea typeface="Montserrat"/>
                <a:cs typeface="Montserrat"/>
                <a:sym typeface="Montserrat"/>
              </a:rPr>
              <a:t>Clasificación</a:t>
            </a:r>
            <a:endParaRPr sz="1600" b="1" kern="0" dirty="0">
              <a:solidFill>
                <a:srgbClr val="242C4F"/>
              </a:solidFill>
              <a:latin typeface="Montserrat"/>
              <a:ea typeface="Montserrat"/>
              <a:cs typeface="Montserrat"/>
              <a:sym typeface="Montserrat"/>
            </a:endParaRPr>
          </a:p>
        </p:txBody>
      </p:sp>
      <p:sp>
        <p:nvSpPr>
          <p:cNvPr id="180" name="Google Shape;180;p18">
            <a:extLst>
              <a:ext uri="{FF2B5EF4-FFF2-40B4-BE49-F238E27FC236}">
                <a16:creationId xmlns:a16="http://schemas.microsoft.com/office/drawing/2014/main" id="{DFB0EE3C-207A-06E8-0701-A52960E14B96}"/>
              </a:ext>
            </a:extLst>
          </p:cNvPr>
          <p:cNvSpPr/>
          <p:nvPr/>
        </p:nvSpPr>
        <p:spPr>
          <a:xfrm>
            <a:off x="9667422" y="3767912"/>
            <a:ext cx="2189600" cy="1015600"/>
          </a:xfrm>
          <a:prstGeom prst="rect">
            <a:avLst/>
          </a:prstGeom>
          <a:noFill/>
          <a:ln>
            <a:noFill/>
          </a:ln>
        </p:spPr>
        <p:txBody>
          <a:bodyPr spcFirstLastPara="1" wrap="square" lIns="91433" tIns="45700" rIns="91433" bIns="45700" anchor="t" anchorCtr="0">
            <a:noAutofit/>
          </a:bodyPr>
          <a:lstStyle/>
          <a:p>
            <a:pPr defTabSz="1219170">
              <a:buClr>
                <a:srgbClr val="000000"/>
              </a:buClr>
              <a:buSzPts val="900"/>
            </a:pPr>
            <a:r>
              <a:rPr lang="es-AR" altLang="ko" sz="1200" kern="0" dirty="0">
                <a:solidFill>
                  <a:srgbClr val="242C4F"/>
                </a:solidFill>
                <a:latin typeface="Montserrat"/>
                <a:ea typeface="Montserrat"/>
                <a:cs typeface="Montserrat"/>
                <a:sym typeface="Montserrat"/>
              </a:rPr>
              <a:t>Capas densas interpretan las características extraídas.</a:t>
            </a:r>
            <a:endParaRPr sz="1200" kern="0" dirty="0">
              <a:solidFill>
                <a:srgbClr val="242C4F"/>
              </a:solidFill>
              <a:latin typeface="Montserrat"/>
              <a:ea typeface="Montserrat"/>
              <a:cs typeface="Montserrat"/>
              <a:sym typeface="Montserrat"/>
            </a:endParaRPr>
          </a:p>
        </p:txBody>
      </p:sp>
      <p:pic>
        <p:nvPicPr>
          <p:cNvPr id="5" name="Imagen 4">
            <a:extLst>
              <a:ext uri="{FF2B5EF4-FFF2-40B4-BE49-F238E27FC236}">
                <a16:creationId xmlns:a16="http://schemas.microsoft.com/office/drawing/2014/main" id="{DCB78B40-F37E-60DC-33A1-CC4BE7D00EBD}"/>
              </a:ext>
            </a:extLst>
          </p:cNvPr>
          <p:cNvPicPr>
            <a:picLocks noChangeAspect="1"/>
          </p:cNvPicPr>
          <p:nvPr/>
        </p:nvPicPr>
        <p:blipFill>
          <a:blip r:embed="rId3">
            <a:extLst>
              <a:ext uri="{28A0092B-C50C-407E-A947-70E740481C1C}">
                <a14:useLocalDpi xmlns:a14="http://schemas.microsoft.com/office/drawing/2010/main" val="0"/>
              </a:ext>
            </a:extLst>
          </a:blip>
          <a:stretch/>
        </p:blipFill>
        <p:spPr>
          <a:xfrm>
            <a:off x="0" y="153908"/>
            <a:ext cx="8795664" cy="5604095"/>
          </a:xfrm>
          <a:prstGeom prst="rect">
            <a:avLst/>
          </a:prstGeom>
        </p:spPr>
      </p:pic>
      <p:sp>
        <p:nvSpPr>
          <p:cNvPr id="7" name="Google Shape;150;p18">
            <a:extLst>
              <a:ext uri="{FF2B5EF4-FFF2-40B4-BE49-F238E27FC236}">
                <a16:creationId xmlns:a16="http://schemas.microsoft.com/office/drawing/2014/main" id="{4AC3B35F-CECD-60AE-E4AE-4461B3F396C6}"/>
              </a:ext>
            </a:extLst>
          </p:cNvPr>
          <p:cNvSpPr/>
          <p:nvPr/>
        </p:nvSpPr>
        <p:spPr>
          <a:xfrm>
            <a:off x="9667422" y="286245"/>
            <a:ext cx="2189600" cy="338400"/>
          </a:xfrm>
          <a:prstGeom prst="rect">
            <a:avLst/>
          </a:prstGeom>
          <a:noFill/>
          <a:ln>
            <a:noFill/>
          </a:ln>
        </p:spPr>
        <p:txBody>
          <a:bodyPr spcFirstLastPara="1" wrap="square" lIns="91433" tIns="45700" rIns="91433" bIns="45700" anchor="t" anchorCtr="0">
            <a:noAutofit/>
          </a:bodyPr>
          <a:lstStyle/>
          <a:p>
            <a:pPr defTabSz="1219170">
              <a:buClr>
                <a:srgbClr val="000000"/>
              </a:buClr>
              <a:buSzPts val="1200"/>
            </a:pPr>
            <a:r>
              <a:rPr lang="es-ES" sz="1600" b="1" kern="0" dirty="0">
                <a:solidFill>
                  <a:srgbClr val="242C4F"/>
                </a:solidFill>
                <a:latin typeface="Montserrat"/>
                <a:ea typeface="Montserrat"/>
                <a:cs typeface="Montserrat"/>
                <a:sym typeface="Montserrat"/>
              </a:rPr>
              <a:t>¿</a:t>
            </a:r>
            <a:r>
              <a:rPr lang="es-AR" sz="1600" b="1" kern="0" dirty="0">
                <a:solidFill>
                  <a:srgbClr val="242C4F"/>
                </a:solidFill>
                <a:latin typeface="Montserrat"/>
                <a:ea typeface="Montserrat"/>
                <a:cs typeface="Montserrat"/>
                <a:sym typeface="Montserrat"/>
              </a:rPr>
              <a:t>Cómo funcionan?</a:t>
            </a:r>
            <a:endParaRPr sz="1600" b="1" kern="0" dirty="0">
              <a:solidFill>
                <a:srgbClr val="242C4F"/>
              </a:solidFill>
              <a:latin typeface="Montserrat"/>
              <a:ea typeface="Montserrat"/>
              <a:cs typeface="Montserrat"/>
              <a:sym typeface="Montserrat"/>
            </a:endParaRPr>
          </a:p>
        </p:txBody>
      </p:sp>
      <p:sp>
        <p:nvSpPr>
          <p:cNvPr id="9" name="Google Shape;180;p18">
            <a:extLst>
              <a:ext uri="{FF2B5EF4-FFF2-40B4-BE49-F238E27FC236}">
                <a16:creationId xmlns:a16="http://schemas.microsoft.com/office/drawing/2014/main" id="{C0BD8E0C-1AA0-8F1E-6FE0-086D1B7B4BC6}"/>
              </a:ext>
            </a:extLst>
          </p:cNvPr>
          <p:cNvSpPr/>
          <p:nvPr/>
        </p:nvSpPr>
        <p:spPr>
          <a:xfrm>
            <a:off x="9667422" y="5030358"/>
            <a:ext cx="2189600" cy="727645"/>
          </a:xfrm>
          <a:prstGeom prst="rect">
            <a:avLst/>
          </a:prstGeom>
          <a:noFill/>
          <a:ln>
            <a:noFill/>
          </a:ln>
        </p:spPr>
        <p:txBody>
          <a:bodyPr spcFirstLastPara="1" wrap="square" lIns="91433" tIns="45700" rIns="91433" bIns="45700" anchor="t" anchorCtr="0">
            <a:noAutofit/>
          </a:bodyPr>
          <a:lstStyle/>
          <a:p>
            <a:pPr defTabSz="1219170">
              <a:buClr>
                <a:srgbClr val="000000"/>
              </a:buClr>
              <a:buSzPts val="900"/>
            </a:pPr>
            <a:r>
              <a:rPr lang="es-AR" altLang="ko" sz="1200" kern="0" dirty="0">
                <a:solidFill>
                  <a:srgbClr val="242C4F"/>
                </a:solidFill>
                <a:latin typeface="Montserrat"/>
                <a:ea typeface="Montserrat"/>
                <a:cs typeface="Montserrat"/>
                <a:sym typeface="Montserrat"/>
              </a:rPr>
              <a:t>Esto vale para los modelos de clasificación de imágenes.</a:t>
            </a:r>
            <a:endParaRPr sz="1200" kern="0" dirty="0">
              <a:solidFill>
                <a:srgbClr val="242C4F"/>
              </a:solidFill>
              <a:latin typeface="Montserrat"/>
              <a:ea typeface="Montserrat"/>
              <a:cs typeface="Montserrat"/>
              <a:sym typeface="Montserrat"/>
            </a:endParaRPr>
          </a:p>
        </p:txBody>
      </p:sp>
    </p:spTree>
    <p:extLst>
      <p:ext uri="{BB962C8B-B14F-4D97-AF65-F5344CB8AC3E}">
        <p14:creationId xmlns:p14="http://schemas.microsoft.com/office/powerpoint/2010/main" val="36369578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147">
          <a:extLst>
            <a:ext uri="{FF2B5EF4-FFF2-40B4-BE49-F238E27FC236}">
              <a16:creationId xmlns:a16="http://schemas.microsoft.com/office/drawing/2014/main" id="{B5A0CF1D-57E0-57D6-DC47-1E59AAE183E7}"/>
            </a:ext>
          </a:extLst>
        </p:cNvPr>
        <p:cNvGrpSpPr/>
        <p:nvPr/>
      </p:nvGrpSpPr>
      <p:grpSpPr>
        <a:xfrm>
          <a:off x="0" y="0"/>
          <a:ext cx="0" cy="0"/>
          <a:chOff x="0" y="0"/>
          <a:chExt cx="0" cy="0"/>
        </a:xfrm>
      </p:grpSpPr>
      <p:sp>
        <p:nvSpPr>
          <p:cNvPr id="150" name="Google Shape;150;p18">
            <a:extLst>
              <a:ext uri="{FF2B5EF4-FFF2-40B4-BE49-F238E27FC236}">
                <a16:creationId xmlns:a16="http://schemas.microsoft.com/office/drawing/2014/main" id="{183423AD-4289-4D18-C35E-054DB48CF29F}"/>
              </a:ext>
            </a:extLst>
          </p:cNvPr>
          <p:cNvSpPr/>
          <p:nvPr/>
        </p:nvSpPr>
        <p:spPr>
          <a:xfrm>
            <a:off x="420042" y="401051"/>
            <a:ext cx="6106881" cy="338400"/>
          </a:xfrm>
          <a:prstGeom prst="rect">
            <a:avLst/>
          </a:prstGeom>
          <a:noFill/>
          <a:ln>
            <a:noFill/>
          </a:ln>
        </p:spPr>
        <p:txBody>
          <a:bodyPr spcFirstLastPara="1" wrap="square" lIns="91433" tIns="45700" rIns="91433" bIns="45700" anchor="t" anchorCtr="0">
            <a:noAutofit/>
          </a:bodyPr>
          <a:lstStyle/>
          <a:p>
            <a:pPr defTabSz="1219170">
              <a:buClr>
                <a:srgbClr val="000000"/>
              </a:buClr>
              <a:buSzPts val="1200"/>
            </a:pPr>
            <a:r>
              <a:rPr lang="es-ES" sz="1600" b="1" kern="0" dirty="0">
                <a:solidFill>
                  <a:srgbClr val="242C4F"/>
                </a:solidFill>
                <a:latin typeface="Montserrat"/>
                <a:ea typeface="Montserrat"/>
                <a:cs typeface="Montserrat"/>
                <a:sym typeface="Montserrat"/>
              </a:rPr>
              <a:t>¿</a:t>
            </a:r>
            <a:r>
              <a:rPr lang="es-AR" sz="1600" b="1" kern="0" dirty="0">
                <a:solidFill>
                  <a:srgbClr val="242C4F"/>
                </a:solidFill>
                <a:latin typeface="Montserrat"/>
                <a:ea typeface="Montserrat"/>
                <a:cs typeface="Montserrat"/>
                <a:sym typeface="Montserrat"/>
              </a:rPr>
              <a:t>Cómo funcionan los modelos de detección de objetos?</a:t>
            </a:r>
            <a:endParaRPr sz="1600" b="1" kern="0" dirty="0">
              <a:solidFill>
                <a:srgbClr val="242C4F"/>
              </a:solidFill>
              <a:latin typeface="Montserrat"/>
              <a:ea typeface="Montserrat"/>
              <a:cs typeface="Montserrat"/>
              <a:sym typeface="Montserrat"/>
            </a:endParaRPr>
          </a:p>
        </p:txBody>
      </p:sp>
      <p:sp>
        <p:nvSpPr>
          <p:cNvPr id="151" name="Google Shape;151;p18">
            <a:extLst>
              <a:ext uri="{FF2B5EF4-FFF2-40B4-BE49-F238E27FC236}">
                <a16:creationId xmlns:a16="http://schemas.microsoft.com/office/drawing/2014/main" id="{DF6A5700-5423-72DE-05EB-793E8B9B2F4B}"/>
              </a:ext>
            </a:extLst>
          </p:cNvPr>
          <p:cNvSpPr/>
          <p:nvPr/>
        </p:nvSpPr>
        <p:spPr>
          <a:xfrm>
            <a:off x="1765366" y="4068277"/>
            <a:ext cx="2743571" cy="1983363"/>
          </a:xfrm>
          <a:prstGeom prst="rect">
            <a:avLst/>
          </a:prstGeom>
          <a:noFill/>
          <a:ln>
            <a:noFill/>
          </a:ln>
        </p:spPr>
        <p:txBody>
          <a:bodyPr spcFirstLastPara="1" wrap="square" lIns="91433" tIns="45700" rIns="91433" bIns="45700" anchor="t" anchorCtr="0">
            <a:noAutofit/>
          </a:bodyPr>
          <a:lstStyle/>
          <a:p>
            <a:pPr defTabSz="1219170">
              <a:buClr>
                <a:srgbClr val="000000"/>
              </a:buClr>
              <a:buSzPts val="900"/>
            </a:pPr>
            <a:r>
              <a:rPr lang="es-AR" altLang="ko" sz="1200" kern="0" dirty="0">
                <a:solidFill>
                  <a:srgbClr val="242C4F"/>
                </a:solidFill>
                <a:latin typeface="Montserrat"/>
                <a:ea typeface="Montserrat"/>
                <a:cs typeface="Montserrat"/>
                <a:sym typeface="Montserrat"/>
              </a:rPr>
              <a:t>El Backbone o estructura principal es similar a los modelos de clasificación. Acá se realiza la extracción de características.</a:t>
            </a:r>
          </a:p>
          <a:p>
            <a:pPr defTabSz="1219170">
              <a:buClr>
                <a:srgbClr val="000000"/>
              </a:buClr>
              <a:buSzPts val="900"/>
            </a:pPr>
            <a:endParaRPr lang="es-AR" altLang="ko" sz="1200" kern="0" dirty="0">
              <a:solidFill>
                <a:srgbClr val="242C4F"/>
              </a:solidFill>
              <a:latin typeface="Montserrat"/>
              <a:ea typeface="Montserrat"/>
              <a:cs typeface="Montserrat"/>
              <a:sym typeface="Montserrat"/>
            </a:endParaRPr>
          </a:p>
          <a:p>
            <a:pPr defTabSz="1219170">
              <a:buClr>
                <a:srgbClr val="000000"/>
              </a:buClr>
              <a:buSzPts val="900"/>
            </a:pPr>
            <a:r>
              <a:rPr lang="es-AR" altLang="ko" sz="1200" kern="0" dirty="0">
                <a:solidFill>
                  <a:srgbClr val="242C4F"/>
                </a:solidFill>
                <a:latin typeface="Montserrat"/>
                <a:ea typeface="Montserrat"/>
                <a:cs typeface="Montserrat"/>
                <a:sym typeface="Montserrat"/>
              </a:rPr>
              <a:t>En el Neck, el cuello, la información en lugar d concentrarse se expande, y libera inputs para las capas de predicción.</a:t>
            </a:r>
            <a:endParaRPr lang="es-AR" sz="1200" kern="0" dirty="0">
              <a:solidFill>
                <a:srgbClr val="242C4F"/>
              </a:solidFill>
              <a:latin typeface="Montserrat"/>
              <a:ea typeface="Montserrat"/>
              <a:cs typeface="Montserrat"/>
              <a:sym typeface="Montserrat"/>
            </a:endParaRPr>
          </a:p>
          <a:p>
            <a:pPr defTabSz="1219170">
              <a:buClr>
                <a:srgbClr val="000000"/>
              </a:buClr>
              <a:buSzPts val="900"/>
            </a:pPr>
            <a:endParaRPr sz="1200" kern="0" dirty="0">
              <a:solidFill>
                <a:srgbClr val="242C4F"/>
              </a:solidFill>
              <a:latin typeface="Montserrat"/>
              <a:ea typeface="Montserrat"/>
              <a:cs typeface="Montserrat"/>
              <a:sym typeface="Montserrat"/>
            </a:endParaRPr>
          </a:p>
        </p:txBody>
      </p:sp>
      <p:pic>
        <p:nvPicPr>
          <p:cNvPr id="3" name="Imagen 2">
            <a:extLst>
              <a:ext uri="{FF2B5EF4-FFF2-40B4-BE49-F238E27FC236}">
                <a16:creationId xmlns:a16="http://schemas.microsoft.com/office/drawing/2014/main" id="{7FA227EC-8805-8B47-32DE-403E4B56EA40}"/>
              </a:ext>
            </a:extLst>
          </p:cNvPr>
          <p:cNvPicPr>
            <a:picLocks noChangeAspect="1"/>
          </p:cNvPicPr>
          <p:nvPr/>
        </p:nvPicPr>
        <p:blipFill>
          <a:blip r:embed="rId3"/>
          <a:stretch>
            <a:fillRect/>
          </a:stretch>
        </p:blipFill>
        <p:spPr>
          <a:xfrm>
            <a:off x="420042" y="806360"/>
            <a:ext cx="11209605" cy="3195008"/>
          </a:xfrm>
          <a:prstGeom prst="rect">
            <a:avLst/>
          </a:prstGeom>
        </p:spPr>
      </p:pic>
      <p:sp>
        <p:nvSpPr>
          <p:cNvPr id="9" name="Google Shape;151;p18">
            <a:extLst>
              <a:ext uri="{FF2B5EF4-FFF2-40B4-BE49-F238E27FC236}">
                <a16:creationId xmlns:a16="http://schemas.microsoft.com/office/drawing/2014/main" id="{50262BC0-A75E-2027-EA43-73248F84CA75}"/>
              </a:ext>
            </a:extLst>
          </p:cNvPr>
          <p:cNvSpPr/>
          <p:nvPr/>
        </p:nvSpPr>
        <p:spPr>
          <a:xfrm>
            <a:off x="4508936" y="4068277"/>
            <a:ext cx="2743571" cy="1983362"/>
          </a:xfrm>
          <a:prstGeom prst="rect">
            <a:avLst/>
          </a:prstGeom>
          <a:noFill/>
          <a:ln>
            <a:noFill/>
          </a:ln>
        </p:spPr>
        <p:txBody>
          <a:bodyPr spcFirstLastPara="1" wrap="square" lIns="91433" tIns="45700" rIns="91433" bIns="45700" anchor="t" anchorCtr="0">
            <a:noAutofit/>
          </a:bodyPr>
          <a:lstStyle/>
          <a:p>
            <a:pPr defTabSz="1219170">
              <a:buClr>
                <a:srgbClr val="000000"/>
              </a:buClr>
              <a:buSzPts val="900"/>
            </a:pPr>
            <a:r>
              <a:rPr lang="es-AR" altLang="ko" sz="1200" kern="0" dirty="0">
                <a:solidFill>
                  <a:srgbClr val="242C4F"/>
                </a:solidFill>
                <a:latin typeface="Montserrat"/>
                <a:ea typeface="Montserrat"/>
                <a:cs typeface="Montserrat"/>
                <a:sym typeface="Montserrat"/>
              </a:rPr>
              <a:t>Las capas de predicción ensayan múltiples recortes de la imagen y realizan predicciones de clase. Con ese proceso mapean a que clase pertenece cada recuadro de la imagen (%). </a:t>
            </a:r>
          </a:p>
          <a:p>
            <a:pPr defTabSz="1219170">
              <a:buClr>
                <a:srgbClr val="000000"/>
              </a:buClr>
              <a:buSzPts val="900"/>
            </a:pPr>
            <a:endParaRPr lang="es-AR" altLang="ko" sz="1200" kern="0" dirty="0">
              <a:solidFill>
                <a:srgbClr val="242C4F"/>
              </a:solidFill>
              <a:latin typeface="Montserrat"/>
              <a:ea typeface="Montserrat"/>
              <a:cs typeface="Montserrat"/>
              <a:sym typeface="Montserrat"/>
            </a:endParaRPr>
          </a:p>
          <a:p>
            <a:pPr defTabSz="1219170">
              <a:buClr>
                <a:srgbClr val="000000"/>
              </a:buClr>
              <a:buSzPts val="900"/>
            </a:pPr>
            <a:r>
              <a:rPr lang="es-AR" altLang="ko" sz="1200" kern="0" dirty="0">
                <a:solidFill>
                  <a:srgbClr val="242C4F"/>
                </a:solidFill>
                <a:latin typeface="Montserrat"/>
                <a:ea typeface="Montserrat"/>
                <a:cs typeface="Montserrat"/>
                <a:sym typeface="Montserrat"/>
              </a:rPr>
              <a:t>Acá también se reubican las características aprendidas en la imagen original.</a:t>
            </a:r>
          </a:p>
          <a:p>
            <a:pPr defTabSz="1219170">
              <a:buClr>
                <a:srgbClr val="000000"/>
              </a:buClr>
              <a:buSzPts val="900"/>
            </a:pPr>
            <a:endParaRPr lang="es-AR" sz="1200" kern="0" dirty="0">
              <a:solidFill>
                <a:srgbClr val="242C4F"/>
              </a:solidFill>
              <a:latin typeface="Montserrat"/>
              <a:ea typeface="Montserrat"/>
              <a:cs typeface="Montserrat"/>
              <a:sym typeface="Montserrat"/>
            </a:endParaRPr>
          </a:p>
        </p:txBody>
      </p:sp>
      <p:sp>
        <p:nvSpPr>
          <p:cNvPr id="13" name="Google Shape;151;p18">
            <a:extLst>
              <a:ext uri="{FF2B5EF4-FFF2-40B4-BE49-F238E27FC236}">
                <a16:creationId xmlns:a16="http://schemas.microsoft.com/office/drawing/2014/main" id="{46C87CEC-A6DA-6440-0663-30A97CE13EBF}"/>
              </a:ext>
            </a:extLst>
          </p:cNvPr>
          <p:cNvSpPr/>
          <p:nvPr/>
        </p:nvSpPr>
        <p:spPr>
          <a:xfrm>
            <a:off x="7252507" y="4048897"/>
            <a:ext cx="2743571" cy="1983361"/>
          </a:xfrm>
          <a:prstGeom prst="rect">
            <a:avLst/>
          </a:prstGeom>
          <a:noFill/>
          <a:ln>
            <a:noFill/>
          </a:ln>
        </p:spPr>
        <p:txBody>
          <a:bodyPr spcFirstLastPara="1" wrap="square" lIns="91433" tIns="45700" rIns="91433" bIns="45700" anchor="t" anchorCtr="0">
            <a:noAutofit/>
          </a:bodyPr>
          <a:lstStyle/>
          <a:p>
            <a:pPr defTabSz="1219170">
              <a:buClr>
                <a:srgbClr val="000000"/>
              </a:buClr>
              <a:buSzPts val="900"/>
            </a:pPr>
            <a:r>
              <a:rPr lang="es-AR" sz="1200" kern="0" dirty="0">
                <a:solidFill>
                  <a:srgbClr val="242C4F"/>
                </a:solidFill>
                <a:latin typeface="Montserrat"/>
                <a:ea typeface="Montserrat"/>
                <a:cs typeface="Montserrat"/>
                <a:sym typeface="Montserrat"/>
              </a:rPr>
              <a:t>En los modelos clásicos se realiza un paso más donde se revisan las predicciones ganadoras y se definen recuadros.</a:t>
            </a:r>
          </a:p>
          <a:p>
            <a:pPr defTabSz="1219170">
              <a:buClr>
                <a:srgbClr val="000000"/>
              </a:buClr>
              <a:buSzPts val="900"/>
            </a:pPr>
            <a:endParaRPr lang="es-ES" sz="1200" kern="0" dirty="0">
              <a:solidFill>
                <a:srgbClr val="242C4F"/>
              </a:solidFill>
              <a:latin typeface="Montserrat"/>
              <a:ea typeface="Montserrat"/>
              <a:cs typeface="Montserrat"/>
              <a:sym typeface="Montserrat"/>
            </a:endParaRPr>
          </a:p>
          <a:p>
            <a:pPr defTabSz="1219170">
              <a:buClr>
                <a:srgbClr val="000000"/>
              </a:buClr>
              <a:buSzPts val="900"/>
            </a:pPr>
            <a:r>
              <a:rPr lang="es-ES" sz="1200" kern="0" dirty="0">
                <a:solidFill>
                  <a:srgbClr val="242C4F"/>
                </a:solidFill>
                <a:latin typeface="Montserrat"/>
                <a:ea typeface="Montserrat"/>
                <a:cs typeface="Montserrat"/>
                <a:sym typeface="Montserrat"/>
              </a:rPr>
              <a:t>E</a:t>
            </a:r>
            <a:r>
              <a:rPr lang="es-AR" sz="1200" kern="0" dirty="0">
                <a:solidFill>
                  <a:srgbClr val="242C4F"/>
                </a:solidFill>
                <a:latin typeface="Montserrat"/>
                <a:ea typeface="Montserrat"/>
                <a:cs typeface="Montserrat"/>
                <a:sym typeface="Montserrat"/>
              </a:rPr>
              <a:t>n este paso se gana precisión, sobre todo en imágenes con figuras ocultas.</a:t>
            </a:r>
            <a:endParaRPr sz="1200" kern="0" dirty="0">
              <a:solidFill>
                <a:srgbClr val="242C4F"/>
              </a:solidFill>
              <a:latin typeface="Montserrat"/>
              <a:ea typeface="Montserrat"/>
              <a:cs typeface="Montserrat"/>
              <a:sym typeface="Montserrat"/>
            </a:endParaRPr>
          </a:p>
        </p:txBody>
      </p:sp>
    </p:spTree>
    <p:extLst>
      <p:ext uri="{BB962C8B-B14F-4D97-AF65-F5344CB8AC3E}">
        <p14:creationId xmlns:p14="http://schemas.microsoft.com/office/powerpoint/2010/main" val="77908285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147">
          <a:extLst>
            <a:ext uri="{FF2B5EF4-FFF2-40B4-BE49-F238E27FC236}">
              <a16:creationId xmlns:a16="http://schemas.microsoft.com/office/drawing/2014/main" id="{5FB94EB5-8408-6434-5C13-692C8CA81253}"/>
            </a:ext>
          </a:extLst>
        </p:cNvPr>
        <p:cNvGrpSpPr/>
        <p:nvPr/>
      </p:nvGrpSpPr>
      <p:grpSpPr>
        <a:xfrm>
          <a:off x="0" y="0"/>
          <a:ext cx="0" cy="0"/>
          <a:chOff x="0" y="0"/>
          <a:chExt cx="0" cy="0"/>
        </a:xfrm>
      </p:grpSpPr>
      <p:sp>
        <p:nvSpPr>
          <p:cNvPr id="150" name="Google Shape;150;p18">
            <a:extLst>
              <a:ext uri="{FF2B5EF4-FFF2-40B4-BE49-F238E27FC236}">
                <a16:creationId xmlns:a16="http://schemas.microsoft.com/office/drawing/2014/main" id="{87DB5E26-44FF-97AE-7748-54CC3FEA3E43}"/>
              </a:ext>
            </a:extLst>
          </p:cNvPr>
          <p:cNvSpPr/>
          <p:nvPr/>
        </p:nvSpPr>
        <p:spPr>
          <a:xfrm>
            <a:off x="420042" y="401051"/>
            <a:ext cx="6106881" cy="338400"/>
          </a:xfrm>
          <a:prstGeom prst="rect">
            <a:avLst/>
          </a:prstGeom>
          <a:noFill/>
          <a:ln>
            <a:noFill/>
          </a:ln>
        </p:spPr>
        <p:txBody>
          <a:bodyPr spcFirstLastPara="1" wrap="square" lIns="91433" tIns="45700" rIns="91433" bIns="45700" anchor="t" anchorCtr="0">
            <a:noAutofit/>
          </a:bodyPr>
          <a:lstStyle/>
          <a:p>
            <a:pPr defTabSz="1219170">
              <a:buClr>
                <a:srgbClr val="000000"/>
              </a:buClr>
              <a:buSzPts val="1200"/>
            </a:pPr>
            <a:r>
              <a:rPr lang="es-ES" sz="1600" b="1" kern="0" dirty="0">
                <a:solidFill>
                  <a:srgbClr val="242C4F"/>
                </a:solidFill>
                <a:latin typeface="Montserrat"/>
                <a:ea typeface="Montserrat"/>
                <a:cs typeface="Montserrat"/>
                <a:sym typeface="Montserrat"/>
              </a:rPr>
              <a:t>Aparece</a:t>
            </a:r>
            <a:r>
              <a:rPr lang="es-AR" sz="1600" b="1" kern="0" dirty="0">
                <a:solidFill>
                  <a:srgbClr val="242C4F"/>
                </a:solidFill>
                <a:latin typeface="Montserrat"/>
                <a:ea typeface="Montserrat"/>
                <a:cs typeface="Montserrat"/>
                <a:sym typeface="Montserrat"/>
              </a:rPr>
              <a:t> YOLO. You </a:t>
            </a:r>
            <a:r>
              <a:rPr lang="es-AR" sz="1600" b="1" kern="0" dirty="0" err="1">
                <a:solidFill>
                  <a:srgbClr val="242C4F"/>
                </a:solidFill>
                <a:latin typeface="Montserrat"/>
                <a:ea typeface="Montserrat"/>
                <a:cs typeface="Montserrat"/>
                <a:sym typeface="Montserrat"/>
              </a:rPr>
              <a:t>Only</a:t>
            </a:r>
            <a:r>
              <a:rPr lang="es-AR" sz="1600" b="1" kern="0" dirty="0">
                <a:solidFill>
                  <a:srgbClr val="242C4F"/>
                </a:solidFill>
                <a:latin typeface="Montserrat"/>
                <a:ea typeface="Montserrat"/>
                <a:cs typeface="Montserrat"/>
                <a:sym typeface="Montserrat"/>
              </a:rPr>
              <a:t> Look Once </a:t>
            </a:r>
            <a:r>
              <a:rPr lang="es-AR" sz="1600" kern="0" dirty="0">
                <a:solidFill>
                  <a:srgbClr val="242C4F"/>
                </a:solidFill>
                <a:latin typeface="Montserrat"/>
                <a:ea typeface="Montserrat"/>
                <a:cs typeface="Montserrat"/>
                <a:sym typeface="Montserrat"/>
              </a:rPr>
              <a:t>(2016)</a:t>
            </a:r>
            <a:endParaRPr sz="1600" kern="0" dirty="0">
              <a:solidFill>
                <a:srgbClr val="242C4F"/>
              </a:solidFill>
              <a:latin typeface="Montserrat"/>
              <a:ea typeface="Montserrat"/>
              <a:cs typeface="Montserrat"/>
              <a:sym typeface="Montserrat"/>
            </a:endParaRPr>
          </a:p>
        </p:txBody>
      </p:sp>
      <p:sp>
        <p:nvSpPr>
          <p:cNvPr id="151" name="Google Shape;151;p18">
            <a:extLst>
              <a:ext uri="{FF2B5EF4-FFF2-40B4-BE49-F238E27FC236}">
                <a16:creationId xmlns:a16="http://schemas.microsoft.com/office/drawing/2014/main" id="{9AD5D6BC-2456-A99E-595A-7231A7265861}"/>
              </a:ext>
            </a:extLst>
          </p:cNvPr>
          <p:cNvSpPr/>
          <p:nvPr/>
        </p:nvSpPr>
        <p:spPr>
          <a:xfrm>
            <a:off x="1765366" y="4068277"/>
            <a:ext cx="2743571" cy="1983363"/>
          </a:xfrm>
          <a:prstGeom prst="rect">
            <a:avLst/>
          </a:prstGeom>
          <a:noFill/>
          <a:ln>
            <a:noFill/>
          </a:ln>
        </p:spPr>
        <p:txBody>
          <a:bodyPr spcFirstLastPara="1" wrap="square" lIns="91433" tIns="45700" rIns="91433" bIns="45700" anchor="t" anchorCtr="0">
            <a:noAutofit/>
          </a:bodyPr>
          <a:lstStyle/>
          <a:p>
            <a:pPr defTabSz="1219170">
              <a:buClr>
                <a:srgbClr val="000000"/>
              </a:buClr>
              <a:buSzPts val="900"/>
            </a:pPr>
            <a:r>
              <a:rPr lang="es-AR" altLang="ko" sz="1200" kern="0" dirty="0">
                <a:solidFill>
                  <a:srgbClr val="242C4F"/>
                </a:solidFill>
                <a:latin typeface="Montserrat"/>
                <a:ea typeface="Montserrat"/>
                <a:cs typeface="Montserrat"/>
                <a:sym typeface="Montserrat"/>
              </a:rPr>
              <a:t>La estructura principal de la red se mantiene. En esta ilustración podemos además observar el </a:t>
            </a:r>
            <a:r>
              <a:rPr lang="es-AR" altLang="ko" sz="1200" kern="0" dirty="0" err="1">
                <a:solidFill>
                  <a:srgbClr val="242C4F"/>
                </a:solidFill>
                <a:latin typeface="Montserrat"/>
                <a:ea typeface="Montserrat"/>
                <a:cs typeface="Montserrat"/>
                <a:sym typeface="Montserrat"/>
              </a:rPr>
              <a:t>kernel</a:t>
            </a:r>
            <a:r>
              <a:rPr lang="es-AR" altLang="ko" sz="1200" kern="0" dirty="0">
                <a:solidFill>
                  <a:srgbClr val="242C4F"/>
                </a:solidFill>
                <a:latin typeface="Montserrat"/>
                <a:ea typeface="Montserrat"/>
                <a:cs typeface="Montserrat"/>
                <a:sym typeface="Montserrat"/>
              </a:rPr>
              <a:t> o filtro que se usa para pasar de una capa a otra. </a:t>
            </a:r>
          </a:p>
          <a:p>
            <a:pPr defTabSz="1219170">
              <a:buClr>
                <a:srgbClr val="000000"/>
              </a:buClr>
              <a:buSzPts val="900"/>
            </a:pPr>
            <a:endParaRPr lang="es-ES" sz="1200" kern="0" dirty="0">
              <a:solidFill>
                <a:srgbClr val="242C4F"/>
              </a:solidFill>
              <a:latin typeface="Montserrat"/>
              <a:ea typeface="Montserrat"/>
              <a:cs typeface="Montserrat"/>
              <a:sym typeface="Montserrat"/>
            </a:endParaRPr>
          </a:p>
          <a:p>
            <a:pPr defTabSz="1219170">
              <a:buClr>
                <a:srgbClr val="000000"/>
              </a:buClr>
              <a:buSzPts val="900"/>
            </a:pPr>
            <a:r>
              <a:rPr lang="es-AR" sz="1200" kern="0" dirty="0">
                <a:solidFill>
                  <a:srgbClr val="242C4F"/>
                </a:solidFill>
                <a:latin typeface="Montserrat"/>
                <a:ea typeface="Montserrat"/>
                <a:cs typeface="Montserrat"/>
                <a:sym typeface="Montserrat"/>
              </a:rPr>
              <a:t>En YOLO la diferencia con los modelos clásicos es que simplifica el paso de predicción</a:t>
            </a:r>
            <a:endParaRPr sz="1200" kern="0" dirty="0">
              <a:solidFill>
                <a:srgbClr val="242C4F"/>
              </a:solidFill>
              <a:latin typeface="Montserrat"/>
              <a:ea typeface="Montserrat"/>
              <a:cs typeface="Montserrat"/>
              <a:sym typeface="Montserrat"/>
            </a:endParaRPr>
          </a:p>
        </p:txBody>
      </p:sp>
      <p:pic>
        <p:nvPicPr>
          <p:cNvPr id="3" name="Imagen 2">
            <a:extLst>
              <a:ext uri="{FF2B5EF4-FFF2-40B4-BE49-F238E27FC236}">
                <a16:creationId xmlns:a16="http://schemas.microsoft.com/office/drawing/2014/main" id="{1124A882-B297-C69E-15EC-63225234A774}"/>
              </a:ext>
            </a:extLst>
          </p:cNvPr>
          <p:cNvPicPr>
            <a:picLocks noChangeAspect="1"/>
          </p:cNvPicPr>
          <p:nvPr/>
        </p:nvPicPr>
        <p:blipFill>
          <a:blip r:embed="rId3">
            <a:extLst>
              <a:ext uri="{28A0092B-C50C-407E-A947-70E740481C1C}">
                <a14:useLocalDpi xmlns:a14="http://schemas.microsoft.com/office/drawing/2010/main" val="0"/>
              </a:ext>
            </a:extLst>
          </a:blip>
          <a:srcRect l="5408" t="6782" r="5028" b="6508"/>
          <a:stretch>
            <a:fillRect/>
          </a:stretch>
        </p:blipFill>
        <p:spPr>
          <a:xfrm>
            <a:off x="2305870" y="846666"/>
            <a:ext cx="7580259" cy="3221610"/>
          </a:xfrm>
          <a:prstGeom prst="rect">
            <a:avLst/>
          </a:prstGeom>
        </p:spPr>
      </p:pic>
      <p:sp>
        <p:nvSpPr>
          <p:cNvPr id="9" name="Google Shape;151;p18">
            <a:extLst>
              <a:ext uri="{FF2B5EF4-FFF2-40B4-BE49-F238E27FC236}">
                <a16:creationId xmlns:a16="http://schemas.microsoft.com/office/drawing/2014/main" id="{4442B672-100F-4C45-7AC1-E1D35715D9C3}"/>
              </a:ext>
            </a:extLst>
          </p:cNvPr>
          <p:cNvSpPr/>
          <p:nvPr/>
        </p:nvSpPr>
        <p:spPr>
          <a:xfrm>
            <a:off x="4508936" y="4068277"/>
            <a:ext cx="2743571" cy="1983362"/>
          </a:xfrm>
          <a:prstGeom prst="rect">
            <a:avLst/>
          </a:prstGeom>
          <a:noFill/>
          <a:ln>
            <a:noFill/>
          </a:ln>
        </p:spPr>
        <p:txBody>
          <a:bodyPr spcFirstLastPara="1" wrap="square" lIns="91433" tIns="45700" rIns="91433" bIns="45700" anchor="t" anchorCtr="0">
            <a:noAutofit/>
          </a:bodyPr>
          <a:lstStyle/>
          <a:p>
            <a:pPr defTabSz="1219170">
              <a:buClr>
                <a:srgbClr val="000000"/>
              </a:buClr>
              <a:buSzPts val="900"/>
            </a:pPr>
            <a:r>
              <a:rPr lang="es-AR" altLang="ko" sz="1200" kern="0" dirty="0">
                <a:solidFill>
                  <a:srgbClr val="242C4F"/>
                </a:solidFill>
                <a:latin typeface="Montserrat"/>
                <a:ea typeface="Montserrat"/>
                <a:cs typeface="Montserrat"/>
                <a:sym typeface="Montserrat"/>
              </a:rPr>
              <a:t>Este primer modelo de YOLO primero divide la imagen en una grilla de 7x7. Cada grilla de la celda será responsable de la detección de los objetos cuyo centro caiga dentro de la celda.</a:t>
            </a:r>
          </a:p>
          <a:p>
            <a:pPr defTabSz="1219170">
              <a:buClr>
                <a:srgbClr val="000000"/>
              </a:buClr>
              <a:buSzPts val="900"/>
            </a:pPr>
            <a:endParaRPr lang="es-AR" altLang="ko" sz="1200" kern="0" dirty="0">
              <a:solidFill>
                <a:srgbClr val="242C4F"/>
              </a:solidFill>
              <a:latin typeface="Montserrat"/>
              <a:ea typeface="Montserrat"/>
              <a:cs typeface="Montserrat"/>
              <a:sym typeface="Montserrat"/>
            </a:endParaRPr>
          </a:p>
          <a:p>
            <a:pPr defTabSz="1219170">
              <a:buClr>
                <a:srgbClr val="000000"/>
              </a:buClr>
              <a:buSzPts val="900"/>
            </a:pPr>
            <a:r>
              <a:rPr lang="es-ES" sz="1200" kern="0" dirty="0">
                <a:solidFill>
                  <a:srgbClr val="242C4F"/>
                </a:solidFill>
                <a:latin typeface="Montserrat"/>
                <a:ea typeface="Montserrat"/>
                <a:cs typeface="Montserrat"/>
                <a:sym typeface="Montserrat"/>
              </a:rPr>
              <a:t>Allí cada celda predice 2 recuadros y clasifica los objetos entre 20 posibles categorías.</a:t>
            </a:r>
            <a:endParaRPr lang="es-AR" altLang="ko" sz="1200" kern="0" dirty="0">
              <a:solidFill>
                <a:srgbClr val="242C4F"/>
              </a:solidFill>
              <a:latin typeface="Montserrat"/>
              <a:ea typeface="Montserrat"/>
              <a:cs typeface="Montserrat"/>
              <a:sym typeface="Montserrat"/>
            </a:endParaRPr>
          </a:p>
          <a:p>
            <a:pPr defTabSz="1219170">
              <a:buClr>
                <a:srgbClr val="000000"/>
              </a:buClr>
              <a:buSzPts val="900"/>
            </a:pPr>
            <a:endParaRPr lang="es-AR" sz="1200" kern="0" dirty="0">
              <a:solidFill>
                <a:srgbClr val="242C4F"/>
              </a:solidFill>
              <a:latin typeface="Montserrat"/>
              <a:ea typeface="Montserrat"/>
              <a:cs typeface="Montserrat"/>
              <a:sym typeface="Montserrat"/>
            </a:endParaRPr>
          </a:p>
        </p:txBody>
      </p:sp>
      <p:sp>
        <p:nvSpPr>
          <p:cNvPr id="13" name="Google Shape;151;p18">
            <a:extLst>
              <a:ext uri="{FF2B5EF4-FFF2-40B4-BE49-F238E27FC236}">
                <a16:creationId xmlns:a16="http://schemas.microsoft.com/office/drawing/2014/main" id="{186ABDE1-11C1-831E-AC46-9876496517F6}"/>
              </a:ext>
            </a:extLst>
          </p:cNvPr>
          <p:cNvSpPr/>
          <p:nvPr/>
        </p:nvSpPr>
        <p:spPr>
          <a:xfrm>
            <a:off x="7252507" y="4048897"/>
            <a:ext cx="2743571" cy="1983361"/>
          </a:xfrm>
          <a:prstGeom prst="rect">
            <a:avLst/>
          </a:prstGeom>
          <a:noFill/>
          <a:ln>
            <a:noFill/>
          </a:ln>
        </p:spPr>
        <p:txBody>
          <a:bodyPr spcFirstLastPara="1" wrap="square" lIns="91433" tIns="45700" rIns="91433" bIns="45700" anchor="t" anchorCtr="0">
            <a:noAutofit/>
          </a:bodyPr>
          <a:lstStyle/>
          <a:p>
            <a:pPr defTabSz="1219170">
              <a:buClr>
                <a:srgbClr val="000000"/>
              </a:buClr>
              <a:buSzPts val="900"/>
            </a:pPr>
            <a:r>
              <a:rPr lang="es-ES" sz="1200" kern="0" dirty="0">
                <a:solidFill>
                  <a:srgbClr val="242C4F"/>
                </a:solidFill>
                <a:latin typeface="Montserrat"/>
                <a:ea typeface="Montserrat"/>
                <a:cs typeface="Montserrat"/>
                <a:sym typeface="Montserrat"/>
              </a:rPr>
              <a:t>La predicción se realiza en el último bloque 7x7x30. Allí cada celda predice 2 recuadros y clasifica los objetos entre 20 posibles categorías.</a:t>
            </a:r>
          </a:p>
          <a:p>
            <a:pPr defTabSz="1219170">
              <a:buClr>
                <a:srgbClr val="000000"/>
              </a:buClr>
              <a:buSzPts val="900"/>
            </a:pPr>
            <a:endParaRPr lang="es-ES" sz="1200" kern="0" dirty="0">
              <a:solidFill>
                <a:srgbClr val="242C4F"/>
              </a:solidFill>
              <a:latin typeface="Montserrat"/>
              <a:ea typeface="Montserrat"/>
              <a:cs typeface="Montserrat"/>
              <a:sym typeface="Montserrat"/>
            </a:endParaRPr>
          </a:p>
          <a:p>
            <a:pPr defTabSz="1219170">
              <a:buClr>
                <a:srgbClr val="000000"/>
              </a:buClr>
              <a:buSzPts val="900"/>
            </a:pPr>
            <a:r>
              <a:rPr lang="es-ES" sz="1200" kern="0" dirty="0">
                <a:solidFill>
                  <a:srgbClr val="242C4F"/>
                </a:solidFill>
                <a:latin typeface="Montserrat"/>
                <a:ea typeface="Montserrat"/>
                <a:cs typeface="Montserrat"/>
                <a:sym typeface="Montserrat"/>
              </a:rPr>
              <a:t>Cada recuadro posee 5 características: x, y, alto, ancho y confianza en la clase predicha.</a:t>
            </a:r>
            <a:endParaRPr sz="1200" kern="0" dirty="0">
              <a:solidFill>
                <a:srgbClr val="242C4F"/>
              </a:solidFill>
              <a:latin typeface="Montserrat"/>
              <a:ea typeface="Montserrat"/>
              <a:cs typeface="Montserrat"/>
              <a:sym typeface="Montserrat"/>
            </a:endParaRPr>
          </a:p>
        </p:txBody>
      </p:sp>
    </p:spTree>
    <p:extLst>
      <p:ext uri="{BB962C8B-B14F-4D97-AF65-F5344CB8AC3E}">
        <p14:creationId xmlns:p14="http://schemas.microsoft.com/office/powerpoint/2010/main" val="254093666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147">
          <a:extLst>
            <a:ext uri="{FF2B5EF4-FFF2-40B4-BE49-F238E27FC236}">
              <a16:creationId xmlns:a16="http://schemas.microsoft.com/office/drawing/2014/main" id="{33CAF292-D557-BAB2-7E0E-E62369147421}"/>
            </a:ext>
          </a:extLst>
        </p:cNvPr>
        <p:cNvGrpSpPr/>
        <p:nvPr/>
      </p:nvGrpSpPr>
      <p:grpSpPr>
        <a:xfrm>
          <a:off x="0" y="0"/>
          <a:ext cx="0" cy="0"/>
          <a:chOff x="0" y="0"/>
          <a:chExt cx="0" cy="0"/>
        </a:xfrm>
      </p:grpSpPr>
      <p:sp>
        <p:nvSpPr>
          <p:cNvPr id="150" name="Google Shape;150;p18">
            <a:extLst>
              <a:ext uri="{FF2B5EF4-FFF2-40B4-BE49-F238E27FC236}">
                <a16:creationId xmlns:a16="http://schemas.microsoft.com/office/drawing/2014/main" id="{CF85ECAE-C91B-CC06-00E8-D9BD83405058}"/>
              </a:ext>
            </a:extLst>
          </p:cNvPr>
          <p:cNvSpPr/>
          <p:nvPr/>
        </p:nvSpPr>
        <p:spPr>
          <a:xfrm>
            <a:off x="420042" y="401051"/>
            <a:ext cx="6106881" cy="338400"/>
          </a:xfrm>
          <a:prstGeom prst="rect">
            <a:avLst/>
          </a:prstGeom>
          <a:noFill/>
          <a:ln>
            <a:noFill/>
          </a:ln>
        </p:spPr>
        <p:txBody>
          <a:bodyPr spcFirstLastPara="1" wrap="square" lIns="91433" tIns="45700" rIns="91433" bIns="45700" anchor="t" anchorCtr="0">
            <a:noAutofit/>
          </a:bodyPr>
          <a:lstStyle/>
          <a:p>
            <a:pPr defTabSz="1219170">
              <a:buClr>
                <a:srgbClr val="000000"/>
              </a:buClr>
              <a:buSzPts val="1200"/>
            </a:pPr>
            <a:r>
              <a:rPr lang="es-ES" sz="1600" b="1" kern="0" dirty="0">
                <a:solidFill>
                  <a:srgbClr val="242C4F"/>
                </a:solidFill>
                <a:latin typeface="Montserrat"/>
                <a:ea typeface="Montserrat"/>
                <a:cs typeface="Montserrat"/>
                <a:sym typeface="Montserrat"/>
              </a:rPr>
              <a:t>Aparece</a:t>
            </a:r>
            <a:r>
              <a:rPr lang="es-AR" sz="1600" b="1" kern="0" dirty="0">
                <a:solidFill>
                  <a:srgbClr val="242C4F"/>
                </a:solidFill>
                <a:latin typeface="Montserrat"/>
                <a:ea typeface="Montserrat"/>
                <a:cs typeface="Montserrat"/>
                <a:sym typeface="Montserrat"/>
              </a:rPr>
              <a:t> YOLO. Todo en una sola pasada.</a:t>
            </a:r>
            <a:endParaRPr sz="1600" b="1" kern="0" dirty="0">
              <a:solidFill>
                <a:srgbClr val="242C4F"/>
              </a:solidFill>
              <a:latin typeface="Montserrat"/>
              <a:ea typeface="Montserrat"/>
              <a:cs typeface="Montserrat"/>
              <a:sym typeface="Montserrat"/>
            </a:endParaRPr>
          </a:p>
        </p:txBody>
      </p:sp>
      <p:pic>
        <p:nvPicPr>
          <p:cNvPr id="3" name="Imagen 2">
            <a:extLst>
              <a:ext uri="{FF2B5EF4-FFF2-40B4-BE49-F238E27FC236}">
                <a16:creationId xmlns:a16="http://schemas.microsoft.com/office/drawing/2014/main" id="{B3EC386E-FC25-676A-797E-18CB24805C89}"/>
              </a:ext>
            </a:extLst>
          </p:cNvPr>
          <p:cNvPicPr>
            <a:picLocks noChangeAspect="1"/>
          </p:cNvPicPr>
          <p:nvPr/>
        </p:nvPicPr>
        <p:blipFill>
          <a:blip r:embed="rId3">
            <a:extLst>
              <a:ext uri="{28A0092B-C50C-407E-A947-70E740481C1C}">
                <a14:useLocalDpi xmlns:a14="http://schemas.microsoft.com/office/drawing/2010/main" val="0"/>
              </a:ext>
            </a:extLst>
          </a:blip>
          <a:stretch/>
        </p:blipFill>
        <p:spPr>
          <a:xfrm>
            <a:off x="2529605" y="1067914"/>
            <a:ext cx="7132790" cy="4722171"/>
          </a:xfrm>
          <a:prstGeom prst="rect">
            <a:avLst/>
          </a:prstGeom>
        </p:spPr>
      </p:pic>
    </p:spTree>
    <p:extLst>
      <p:ext uri="{BB962C8B-B14F-4D97-AF65-F5344CB8AC3E}">
        <p14:creationId xmlns:p14="http://schemas.microsoft.com/office/powerpoint/2010/main" val="387785900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147">
          <a:extLst>
            <a:ext uri="{FF2B5EF4-FFF2-40B4-BE49-F238E27FC236}">
              <a16:creationId xmlns:a16="http://schemas.microsoft.com/office/drawing/2014/main" id="{F91FA4EC-892B-99B4-6894-634212F39906}"/>
            </a:ext>
          </a:extLst>
        </p:cNvPr>
        <p:cNvGrpSpPr/>
        <p:nvPr/>
      </p:nvGrpSpPr>
      <p:grpSpPr>
        <a:xfrm>
          <a:off x="0" y="0"/>
          <a:ext cx="0" cy="0"/>
          <a:chOff x="0" y="0"/>
          <a:chExt cx="0" cy="0"/>
        </a:xfrm>
      </p:grpSpPr>
      <p:sp>
        <p:nvSpPr>
          <p:cNvPr id="150" name="Google Shape;150;p18">
            <a:extLst>
              <a:ext uri="{FF2B5EF4-FFF2-40B4-BE49-F238E27FC236}">
                <a16:creationId xmlns:a16="http://schemas.microsoft.com/office/drawing/2014/main" id="{CDCA16F2-6338-2AED-3D54-9547414F6210}"/>
              </a:ext>
            </a:extLst>
          </p:cNvPr>
          <p:cNvSpPr/>
          <p:nvPr/>
        </p:nvSpPr>
        <p:spPr>
          <a:xfrm>
            <a:off x="420042" y="401051"/>
            <a:ext cx="6106881" cy="338400"/>
          </a:xfrm>
          <a:prstGeom prst="rect">
            <a:avLst/>
          </a:prstGeom>
          <a:noFill/>
          <a:ln>
            <a:noFill/>
          </a:ln>
        </p:spPr>
        <p:txBody>
          <a:bodyPr spcFirstLastPara="1" wrap="square" lIns="91433" tIns="45700" rIns="91433" bIns="45700" anchor="t" anchorCtr="0">
            <a:noAutofit/>
          </a:bodyPr>
          <a:lstStyle/>
          <a:p>
            <a:pPr defTabSz="1219170">
              <a:buClr>
                <a:srgbClr val="000000"/>
              </a:buClr>
              <a:buSzPts val="1200"/>
            </a:pPr>
            <a:r>
              <a:rPr lang="es-ES" sz="1600" b="1" kern="0" dirty="0">
                <a:solidFill>
                  <a:srgbClr val="242C4F"/>
                </a:solidFill>
                <a:latin typeface="Montserrat"/>
                <a:ea typeface="Montserrat"/>
                <a:cs typeface="Montserrat"/>
                <a:sym typeface="Montserrat"/>
              </a:rPr>
              <a:t>YOLO8 </a:t>
            </a:r>
            <a:r>
              <a:rPr lang="es-ES" sz="1600" kern="0" dirty="0">
                <a:solidFill>
                  <a:srgbClr val="242C4F"/>
                </a:solidFill>
                <a:latin typeface="Montserrat"/>
                <a:ea typeface="Montserrat"/>
                <a:cs typeface="Montserrat"/>
                <a:sym typeface="Montserrat"/>
              </a:rPr>
              <a:t>(2023)</a:t>
            </a:r>
            <a:endParaRPr sz="1600" kern="0" dirty="0">
              <a:solidFill>
                <a:srgbClr val="242C4F"/>
              </a:solidFill>
              <a:latin typeface="Montserrat"/>
              <a:ea typeface="Montserrat"/>
              <a:cs typeface="Montserrat"/>
              <a:sym typeface="Montserrat"/>
            </a:endParaRPr>
          </a:p>
        </p:txBody>
      </p:sp>
      <p:sp>
        <p:nvSpPr>
          <p:cNvPr id="151" name="Google Shape;151;p18">
            <a:extLst>
              <a:ext uri="{FF2B5EF4-FFF2-40B4-BE49-F238E27FC236}">
                <a16:creationId xmlns:a16="http://schemas.microsoft.com/office/drawing/2014/main" id="{1940E2F2-59E5-FF7E-2778-D083A58EF280}"/>
              </a:ext>
            </a:extLst>
          </p:cNvPr>
          <p:cNvSpPr/>
          <p:nvPr/>
        </p:nvSpPr>
        <p:spPr>
          <a:xfrm>
            <a:off x="606522" y="4606938"/>
            <a:ext cx="2743571" cy="1340139"/>
          </a:xfrm>
          <a:prstGeom prst="rect">
            <a:avLst/>
          </a:prstGeom>
          <a:noFill/>
          <a:ln>
            <a:noFill/>
          </a:ln>
        </p:spPr>
        <p:txBody>
          <a:bodyPr spcFirstLastPara="1" wrap="square" lIns="91433" tIns="45700" rIns="91433" bIns="45700" anchor="t" anchorCtr="0">
            <a:noAutofit/>
          </a:bodyPr>
          <a:lstStyle/>
          <a:p>
            <a:pPr defTabSz="1219170">
              <a:buClr>
                <a:srgbClr val="000000"/>
              </a:buClr>
              <a:buSzPts val="900"/>
            </a:pPr>
            <a:r>
              <a:rPr lang="es-ES" sz="1200" kern="0" dirty="0">
                <a:solidFill>
                  <a:srgbClr val="242C4F"/>
                </a:solidFill>
                <a:latin typeface="Montserrat"/>
                <a:ea typeface="Montserrat"/>
                <a:cs typeface="Montserrat"/>
                <a:sym typeface="Montserrat"/>
              </a:rPr>
              <a:t>Acá como muestra de los modelos más nuevos de YOLO tenemos la versión 8 que ya hace de forma nativa no solo recuadros con coordenadas sino también segmentación y detección de pose.</a:t>
            </a:r>
            <a:endParaRPr sz="1200" kern="0" dirty="0">
              <a:solidFill>
                <a:srgbClr val="242C4F"/>
              </a:solidFill>
              <a:latin typeface="Montserrat"/>
              <a:ea typeface="Montserrat"/>
              <a:cs typeface="Montserrat"/>
              <a:sym typeface="Montserrat"/>
            </a:endParaRPr>
          </a:p>
        </p:txBody>
      </p:sp>
      <p:pic>
        <p:nvPicPr>
          <p:cNvPr id="3" name="Imagen 2">
            <a:extLst>
              <a:ext uri="{FF2B5EF4-FFF2-40B4-BE49-F238E27FC236}">
                <a16:creationId xmlns:a16="http://schemas.microsoft.com/office/drawing/2014/main" id="{D18C6B4F-366F-148E-4A90-B38B957F5981}"/>
              </a:ext>
            </a:extLst>
          </p:cNvPr>
          <p:cNvPicPr>
            <a:picLocks noChangeAspect="1"/>
          </p:cNvPicPr>
          <p:nvPr/>
        </p:nvPicPr>
        <p:blipFill>
          <a:blip r:embed="rId3">
            <a:extLst>
              <a:ext uri="{28A0092B-C50C-407E-A947-70E740481C1C}">
                <a14:useLocalDpi xmlns:a14="http://schemas.microsoft.com/office/drawing/2010/main" val="0"/>
              </a:ext>
            </a:extLst>
          </a:blip>
          <a:srcRect b="33307"/>
          <a:stretch>
            <a:fillRect/>
          </a:stretch>
        </p:blipFill>
        <p:spPr>
          <a:xfrm>
            <a:off x="1685501" y="910923"/>
            <a:ext cx="8816323" cy="3461901"/>
          </a:xfrm>
          <a:prstGeom prst="rect">
            <a:avLst/>
          </a:prstGeom>
        </p:spPr>
      </p:pic>
      <p:sp>
        <p:nvSpPr>
          <p:cNvPr id="9" name="Google Shape;151;p18">
            <a:extLst>
              <a:ext uri="{FF2B5EF4-FFF2-40B4-BE49-F238E27FC236}">
                <a16:creationId xmlns:a16="http://schemas.microsoft.com/office/drawing/2014/main" id="{3F7E283F-6894-F9B1-402A-87664E3C927E}"/>
              </a:ext>
            </a:extLst>
          </p:cNvPr>
          <p:cNvSpPr/>
          <p:nvPr/>
        </p:nvSpPr>
        <p:spPr>
          <a:xfrm>
            <a:off x="3350092" y="4606936"/>
            <a:ext cx="2743571" cy="1340139"/>
          </a:xfrm>
          <a:prstGeom prst="rect">
            <a:avLst/>
          </a:prstGeom>
          <a:noFill/>
          <a:ln>
            <a:noFill/>
          </a:ln>
        </p:spPr>
        <p:txBody>
          <a:bodyPr spcFirstLastPara="1" wrap="square" lIns="91433" tIns="45700" rIns="91433" bIns="45700" anchor="t" anchorCtr="0">
            <a:noAutofit/>
          </a:bodyPr>
          <a:lstStyle/>
          <a:p>
            <a:pPr defTabSz="1219170">
              <a:buClr>
                <a:srgbClr val="000000"/>
              </a:buClr>
              <a:buSzPts val="900"/>
            </a:pPr>
            <a:r>
              <a:rPr lang="es-ES" altLang="ko" sz="1200" kern="0" dirty="0">
                <a:solidFill>
                  <a:srgbClr val="242C4F"/>
                </a:solidFill>
                <a:latin typeface="Montserrat"/>
                <a:ea typeface="Montserrat"/>
                <a:cs typeface="Montserrat"/>
                <a:sym typeface="Montserrat"/>
              </a:rPr>
              <a:t>Este modelo prescinde de “</a:t>
            </a:r>
            <a:r>
              <a:rPr lang="es-ES" altLang="ko" sz="1200" kern="0" dirty="0" err="1">
                <a:solidFill>
                  <a:srgbClr val="242C4F"/>
                </a:solidFill>
                <a:latin typeface="Montserrat"/>
                <a:ea typeface="Montserrat"/>
                <a:cs typeface="Montserrat"/>
                <a:sym typeface="Montserrat"/>
              </a:rPr>
              <a:t>anchors</a:t>
            </a:r>
            <a:r>
              <a:rPr lang="es-ES" altLang="ko" sz="1200" kern="0" dirty="0">
                <a:solidFill>
                  <a:srgbClr val="242C4F"/>
                </a:solidFill>
                <a:latin typeface="Montserrat"/>
                <a:ea typeface="Montserrat"/>
                <a:cs typeface="Montserrat"/>
                <a:sym typeface="Montserrat"/>
              </a:rPr>
              <a:t>”, sugerencias de recuadros posibles como input del usuario que requerían modelos anteriores lo que les da más flexibilidad.</a:t>
            </a:r>
            <a:endParaRPr lang="es-AR" altLang="ko" sz="1200" kern="0" dirty="0">
              <a:solidFill>
                <a:srgbClr val="242C4F"/>
              </a:solidFill>
              <a:latin typeface="Montserrat"/>
              <a:ea typeface="Montserrat"/>
              <a:cs typeface="Montserrat"/>
              <a:sym typeface="Montserrat"/>
            </a:endParaRPr>
          </a:p>
          <a:p>
            <a:pPr defTabSz="1219170">
              <a:buClr>
                <a:srgbClr val="000000"/>
              </a:buClr>
              <a:buSzPts val="900"/>
            </a:pPr>
            <a:endParaRPr lang="es-AR" sz="1200" kern="0" dirty="0">
              <a:solidFill>
                <a:srgbClr val="242C4F"/>
              </a:solidFill>
              <a:latin typeface="Montserrat"/>
              <a:ea typeface="Montserrat"/>
              <a:cs typeface="Montserrat"/>
              <a:sym typeface="Montserrat"/>
            </a:endParaRPr>
          </a:p>
        </p:txBody>
      </p:sp>
      <p:sp>
        <p:nvSpPr>
          <p:cNvPr id="13" name="Google Shape;151;p18">
            <a:extLst>
              <a:ext uri="{FF2B5EF4-FFF2-40B4-BE49-F238E27FC236}">
                <a16:creationId xmlns:a16="http://schemas.microsoft.com/office/drawing/2014/main" id="{2497B032-6116-B055-CAF7-C3C6D819D977}"/>
              </a:ext>
            </a:extLst>
          </p:cNvPr>
          <p:cNvSpPr/>
          <p:nvPr/>
        </p:nvSpPr>
        <p:spPr>
          <a:xfrm>
            <a:off x="6093662" y="4606934"/>
            <a:ext cx="2743571" cy="1415099"/>
          </a:xfrm>
          <a:prstGeom prst="rect">
            <a:avLst/>
          </a:prstGeom>
          <a:noFill/>
          <a:ln>
            <a:noFill/>
          </a:ln>
        </p:spPr>
        <p:txBody>
          <a:bodyPr spcFirstLastPara="1" wrap="square" lIns="91433" tIns="45700" rIns="91433" bIns="45700" anchor="t" anchorCtr="0">
            <a:noAutofit/>
          </a:bodyPr>
          <a:lstStyle/>
          <a:p>
            <a:pPr defTabSz="1219170">
              <a:buClr>
                <a:srgbClr val="000000"/>
              </a:buClr>
              <a:buSzPts val="900"/>
            </a:pPr>
            <a:r>
              <a:rPr lang="es-ES" sz="1200" kern="0" dirty="0">
                <a:solidFill>
                  <a:srgbClr val="242C4F"/>
                </a:solidFill>
                <a:latin typeface="Montserrat"/>
                <a:ea typeface="Montserrat"/>
                <a:cs typeface="Montserrat"/>
                <a:sym typeface="Montserrat"/>
              </a:rPr>
              <a:t>Además, con una estructura base se elaboran varios modelos que varían solo en la repetición de módulos.</a:t>
            </a:r>
            <a:endParaRPr sz="1200" kern="0" dirty="0">
              <a:solidFill>
                <a:srgbClr val="242C4F"/>
              </a:solidFill>
              <a:latin typeface="Montserrat"/>
              <a:ea typeface="Montserrat"/>
              <a:cs typeface="Montserrat"/>
              <a:sym typeface="Montserrat"/>
            </a:endParaRPr>
          </a:p>
        </p:txBody>
      </p:sp>
      <p:sp>
        <p:nvSpPr>
          <p:cNvPr id="8" name="Google Shape;151;p18">
            <a:extLst>
              <a:ext uri="{FF2B5EF4-FFF2-40B4-BE49-F238E27FC236}">
                <a16:creationId xmlns:a16="http://schemas.microsoft.com/office/drawing/2014/main" id="{7125BC15-91AC-5A50-6C52-2232F931B3A9}"/>
              </a:ext>
            </a:extLst>
          </p:cNvPr>
          <p:cNvSpPr/>
          <p:nvPr/>
        </p:nvSpPr>
        <p:spPr>
          <a:xfrm>
            <a:off x="8837232" y="4606933"/>
            <a:ext cx="2743571" cy="1415099"/>
          </a:xfrm>
          <a:prstGeom prst="rect">
            <a:avLst/>
          </a:prstGeom>
          <a:noFill/>
          <a:ln>
            <a:noFill/>
          </a:ln>
        </p:spPr>
        <p:txBody>
          <a:bodyPr spcFirstLastPara="1" wrap="square" lIns="91433" tIns="45700" rIns="91433" bIns="45700" anchor="t" anchorCtr="0">
            <a:noAutofit/>
          </a:bodyPr>
          <a:lstStyle/>
          <a:p>
            <a:pPr defTabSz="1219170">
              <a:buClr>
                <a:srgbClr val="000000"/>
              </a:buClr>
              <a:buSzPts val="900"/>
            </a:pPr>
            <a:r>
              <a:rPr lang="es-ES" sz="1200" kern="0" dirty="0">
                <a:solidFill>
                  <a:srgbClr val="242C4F"/>
                </a:solidFill>
                <a:latin typeface="Montserrat"/>
                <a:ea typeface="Montserrat"/>
                <a:cs typeface="Montserrat"/>
                <a:sym typeface="Montserrat"/>
              </a:rPr>
              <a:t>Esto permite modelos más livianos para dispositivos con menor capacidad, o modelos más grandes con mayor precisión, todos beneficiándose de los avances en la arquitectura.</a:t>
            </a:r>
            <a:endParaRPr sz="1200" kern="0" dirty="0">
              <a:solidFill>
                <a:srgbClr val="242C4F"/>
              </a:solidFill>
              <a:latin typeface="Montserrat"/>
              <a:ea typeface="Montserrat"/>
              <a:cs typeface="Montserrat"/>
              <a:sym typeface="Montserrat"/>
            </a:endParaRPr>
          </a:p>
        </p:txBody>
      </p:sp>
    </p:spTree>
    <p:extLst>
      <p:ext uri="{BB962C8B-B14F-4D97-AF65-F5344CB8AC3E}">
        <p14:creationId xmlns:p14="http://schemas.microsoft.com/office/powerpoint/2010/main" val="206621812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147">
          <a:extLst>
            <a:ext uri="{FF2B5EF4-FFF2-40B4-BE49-F238E27FC236}">
              <a16:creationId xmlns:a16="http://schemas.microsoft.com/office/drawing/2014/main" id="{A980A386-B082-DA51-7C06-B5AAF93F9326}"/>
            </a:ext>
          </a:extLst>
        </p:cNvPr>
        <p:cNvGrpSpPr/>
        <p:nvPr/>
      </p:nvGrpSpPr>
      <p:grpSpPr>
        <a:xfrm>
          <a:off x="0" y="0"/>
          <a:ext cx="0" cy="0"/>
          <a:chOff x="0" y="0"/>
          <a:chExt cx="0" cy="0"/>
        </a:xfrm>
      </p:grpSpPr>
      <p:sp>
        <p:nvSpPr>
          <p:cNvPr id="150" name="Google Shape;150;p18">
            <a:extLst>
              <a:ext uri="{FF2B5EF4-FFF2-40B4-BE49-F238E27FC236}">
                <a16:creationId xmlns:a16="http://schemas.microsoft.com/office/drawing/2014/main" id="{590B783B-FCC0-14FF-667E-64FD0493CABB}"/>
              </a:ext>
            </a:extLst>
          </p:cNvPr>
          <p:cNvSpPr/>
          <p:nvPr/>
        </p:nvSpPr>
        <p:spPr>
          <a:xfrm>
            <a:off x="420042" y="401051"/>
            <a:ext cx="6106881" cy="338400"/>
          </a:xfrm>
          <a:prstGeom prst="rect">
            <a:avLst/>
          </a:prstGeom>
          <a:noFill/>
          <a:ln>
            <a:noFill/>
          </a:ln>
        </p:spPr>
        <p:txBody>
          <a:bodyPr spcFirstLastPara="1" wrap="square" lIns="91433" tIns="45700" rIns="91433" bIns="45700" anchor="t" anchorCtr="0">
            <a:noAutofit/>
          </a:bodyPr>
          <a:lstStyle/>
          <a:p>
            <a:pPr defTabSz="1219170">
              <a:buClr>
                <a:srgbClr val="000000"/>
              </a:buClr>
              <a:buSzPts val="1200"/>
            </a:pPr>
            <a:r>
              <a:rPr lang="es-ES" sz="1600" b="1" kern="0" dirty="0">
                <a:solidFill>
                  <a:srgbClr val="242C4F"/>
                </a:solidFill>
                <a:latin typeface="Montserrat"/>
                <a:ea typeface="Montserrat"/>
                <a:cs typeface="Montserrat"/>
                <a:sym typeface="Montserrat"/>
              </a:rPr>
              <a:t>YOLOv11, YOLOv26 </a:t>
            </a:r>
            <a:r>
              <a:rPr lang="es-ES" sz="1600" kern="0" dirty="0">
                <a:solidFill>
                  <a:srgbClr val="242C4F"/>
                </a:solidFill>
                <a:latin typeface="Montserrat"/>
                <a:ea typeface="Montserrat"/>
                <a:cs typeface="Montserrat"/>
                <a:sym typeface="Montserrat"/>
              </a:rPr>
              <a:t>(2023, 2026)</a:t>
            </a:r>
            <a:endParaRPr sz="1600" kern="0" dirty="0">
              <a:solidFill>
                <a:srgbClr val="242C4F"/>
              </a:solidFill>
              <a:latin typeface="Montserrat"/>
              <a:ea typeface="Montserrat"/>
              <a:cs typeface="Montserrat"/>
              <a:sym typeface="Montserrat"/>
            </a:endParaRPr>
          </a:p>
        </p:txBody>
      </p:sp>
      <p:sp>
        <p:nvSpPr>
          <p:cNvPr id="151" name="Google Shape;151;p18">
            <a:extLst>
              <a:ext uri="{FF2B5EF4-FFF2-40B4-BE49-F238E27FC236}">
                <a16:creationId xmlns:a16="http://schemas.microsoft.com/office/drawing/2014/main" id="{92E1954A-5713-ABCE-F787-89E858144EB6}"/>
              </a:ext>
            </a:extLst>
          </p:cNvPr>
          <p:cNvSpPr/>
          <p:nvPr/>
        </p:nvSpPr>
        <p:spPr>
          <a:xfrm>
            <a:off x="1978305" y="4805482"/>
            <a:ext cx="2743571" cy="996097"/>
          </a:xfrm>
          <a:prstGeom prst="rect">
            <a:avLst/>
          </a:prstGeom>
          <a:noFill/>
          <a:ln>
            <a:noFill/>
          </a:ln>
        </p:spPr>
        <p:txBody>
          <a:bodyPr spcFirstLastPara="1" wrap="square" lIns="91433" tIns="45700" rIns="91433" bIns="45700" anchor="t" anchorCtr="0">
            <a:noAutofit/>
          </a:bodyPr>
          <a:lstStyle/>
          <a:p>
            <a:pPr defTabSz="1219170">
              <a:buClr>
                <a:srgbClr val="000000"/>
              </a:buClr>
              <a:buSzPts val="900"/>
            </a:pPr>
            <a:r>
              <a:rPr lang="es-ES" sz="1200" kern="0" dirty="0">
                <a:solidFill>
                  <a:srgbClr val="242C4F"/>
                </a:solidFill>
                <a:latin typeface="Montserrat"/>
                <a:ea typeface="Montserrat"/>
                <a:cs typeface="Montserrat"/>
                <a:sym typeface="Montserrat"/>
              </a:rPr>
              <a:t>Los nuevos modelos de YOLO fueron agregando mejoras en precisión y mucho en performance.</a:t>
            </a:r>
            <a:endParaRPr sz="1200" kern="0" dirty="0">
              <a:solidFill>
                <a:srgbClr val="242C4F"/>
              </a:solidFill>
              <a:latin typeface="Montserrat"/>
              <a:ea typeface="Montserrat"/>
              <a:cs typeface="Montserrat"/>
              <a:sym typeface="Montserrat"/>
            </a:endParaRPr>
          </a:p>
        </p:txBody>
      </p:sp>
      <p:pic>
        <p:nvPicPr>
          <p:cNvPr id="3" name="Imagen 2">
            <a:extLst>
              <a:ext uri="{FF2B5EF4-FFF2-40B4-BE49-F238E27FC236}">
                <a16:creationId xmlns:a16="http://schemas.microsoft.com/office/drawing/2014/main" id="{B7AEC269-6A87-D4EC-8C36-7E372EA19065}"/>
              </a:ext>
            </a:extLst>
          </p:cNvPr>
          <p:cNvPicPr>
            <a:picLocks noChangeAspect="1"/>
          </p:cNvPicPr>
          <p:nvPr/>
        </p:nvPicPr>
        <p:blipFill>
          <a:blip r:embed="rId3">
            <a:extLst>
              <a:ext uri="{28A0092B-C50C-407E-A947-70E740481C1C}">
                <a14:useLocalDpi xmlns:a14="http://schemas.microsoft.com/office/drawing/2010/main" val="0"/>
              </a:ext>
            </a:extLst>
          </a:blip>
          <a:srcRect t="5070" b="5070"/>
          <a:stretch/>
        </p:blipFill>
        <p:spPr>
          <a:xfrm>
            <a:off x="1685501" y="910923"/>
            <a:ext cx="8816323" cy="3461901"/>
          </a:xfrm>
          <a:prstGeom prst="rect">
            <a:avLst/>
          </a:prstGeom>
        </p:spPr>
      </p:pic>
      <p:sp>
        <p:nvSpPr>
          <p:cNvPr id="9" name="Google Shape;151;p18">
            <a:extLst>
              <a:ext uri="{FF2B5EF4-FFF2-40B4-BE49-F238E27FC236}">
                <a16:creationId xmlns:a16="http://schemas.microsoft.com/office/drawing/2014/main" id="{5D28B5F4-A192-F8C2-EE5A-A84AFABBB7F8}"/>
              </a:ext>
            </a:extLst>
          </p:cNvPr>
          <p:cNvSpPr/>
          <p:nvPr/>
        </p:nvSpPr>
        <p:spPr>
          <a:xfrm>
            <a:off x="4726555" y="4805482"/>
            <a:ext cx="2743571" cy="985136"/>
          </a:xfrm>
          <a:prstGeom prst="rect">
            <a:avLst/>
          </a:prstGeom>
          <a:noFill/>
          <a:ln>
            <a:noFill/>
          </a:ln>
        </p:spPr>
        <p:txBody>
          <a:bodyPr spcFirstLastPara="1" wrap="square" lIns="91433" tIns="45700" rIns="91433" bIns="45700" anchor="t" anchorCtr="0">
            <a:noAutofit/>
          </a:bodyPr>
          <a:lstStyle/>
          <a:p>
            <a:pPr defTabSz="1219170">
              <a:buClr>
                <a:srgbClr val="000000"/>
              </a:buClr>
              <a:buSzPts val="900"/>
            </a:pPr>
            <a:r>
              <a:rPr lang="es-ES" altLang="ko" sz="1200" kern="0" dirty="0">
                <a:solidFill>
                  <a:srgbClr val="242C4F"/>
                </a:solidFill>
                <a:latin typeface="Montserrat"/>
                <a:ea typeface="Montserrat"/>
                <a:cs typeface="Montserrat"/>
                <a:sym typeface="Montserrat"/>
              </a:rPr>
              <a:t>Los modelos actuales admiten </a:t>
            </a:r>
            <a:r>
              <a:rPr lang="es-ES" altLang="ko" sz="1200" kern="0" dirty="0" err="1">
                <a:solidFill>
                  <a:srgbClr val="242C4F"/>
                </a:solidFill>
                <a:latin typeface="Montserrat"/>
                <a:ea typeface="Montserrat"/>
                <a:cs typeface="Montserrat"/>
                <a:sym typeface="Montserrat"/>
              </a:rPr>
              <a:t>zero-shot</a:t>
            </a:r>
            <a:r>
              <a:rPr lang="es-ES" altLang="ko" sz="1200" kern="0" dirty="0">
                <a:solidFill>
                  <a:srgbClr val="242C4F"/>
                </a:solidFill>
                <a:latin typeface="Montserrat"/>
                <a:ea typeface="Montserrat"/>
                <a:cs typeface="Montserrat"/>
                <a:sym typeface="Montserrat"/>
              </a:rPr>
              <a:t> </a:t>
            </a:r>
            <a:r>
              <a:rPr lang="es-ES" altLang="ko" sz="1200" kern="0" dirty="0" err="1">
                <a:solidFill>
                  <a:srgbClr val="242C4F"/>
                </a:solidFill>
                <a:latin typeface="Montserrat"/>
                <a:ea typeface="Montserrat"/>
                <a:cs typeface="Montserrat"/>
                <a:sym typeface="Montserrat"/>
              </a:rPr>
              <a:t>detection</a:t>
            </a:r>
            <a:r>
              <a:rPr lang="es-ES" altLang="ko" sz="1200" kern="0" dirty="0">
                <a:solidFill>
                  <a:srgbClr val="242C4F"/>
                </a:solidFill>
                <a:latin typeface="Montserrat"/>
                <a:ea typeface="Montserrat"/>
                <a:cs typeface="Montserrat"/>
                <a:sym typeface="Montserrat"/>
              </a:rPr>
              <a:t> que significa que pueden reconocer objetos para los que no fueron entrenados en base a un </a:t>
            </a:r>
            <a:r>
              <a:rPr lang="es-ES" altLang="ko" sz="1200" kern="0" dirty="0" err="1">
                <a:solidFill>
                  <a:srgbClr val="242C4F"/>
                </a:solidFill>
                <a:latin typeface="Montserrat"/>
                <a:ea typeface="Montserrat"/>
                <a:cs typeface="Montserrat"/>
                <a:sym typeface="Montserrat"/>
              </a:rPr>
              <a:t>prompt</a:t>
            </a:r>
            <a:r>
              <a:rPr lang="es-ES" altLang="ko" sz="1200" kern="0" dirty="0">
                <a:solidFill>
                  <a:srgbClr val="242C4F"/>
                </a:solidFill>
                <a:latin typeface="Montserrat"/>
                <a:ea typeface="Montserrat"/>
                <a:cs typeface="Montserrat"/>
                <a:sym typeface="Montserrat"/>
              </a:rPr>
              <a:t>.</a:t>
            </a:r>
            <a:endParaRPr lang="es-AR" altLang="ko" sz="1200" kern="0" dirty="0">
              <a:solidFill>
                <a:srgbClr val="242C4F"/>
              </a:solidFill>
              <a:latin typeface="Montserrat"/>
              <a:ea typeface="Montserrat"/>
              <a:cs typeface="Montserrat"/>
              <a:sym typeface="Montserrat"/>
            </a:endParaRPr>
          </a:p>
          <a:p>
            <a:pPr defTabSz="1219170">
              <a:buClr>
                <a:srgbClr val="000000"/>
              </a:buClr>
              <a:buSzPts val="900"/>
            </a:pPr>
            <a:endParaRPr lang="es-AR" sz="1200" kern="0" dirty="0">
              <a:solidFill>
                <a:srgbClr val="242C4F"/>
              </a:solidFill>
              <a:latin typeface="Montserrat"/>
              <a:ea typeface="Montserrat"/>
              <a:cs typeface="Montserrat"/>
              <a:sym typeface="Montserrat"/>
            </a:endParaRPr>
          </a:p>
        </p:txBody>
      </p:sp>
      <p:sp>
        <p:nvSpPr>
          <p:cNvPr id="13" name="Google Shape;151;p18">
            <a:extLst>
              <a:ext uri="{FF2B5EF4-FFF2-40B4-BE49-F238E27FC236}">
                <a16:creationId xmlns:a16="http://schemas.microsoft.com/office/drawing/2014/main" id="{60F81565-849E-3F00-E951-430DA52288C7}"/>
              </a:ext>
            </a:extLst>
          </p:cNvPr>
          <p:cNvSpPr/>
          <p:nvPr/>
        </p:nvSpPr>
        <p:spPr>
          <a:xfrm>
            <a:off x="7470124" y="4805482"/>
            <a:ext cx="2743571" cy="1033576"/>
          </a:xfrm>
          <a:prstGeom prst="rect">
            <a:avLst/>
          </a:prstGeom>
          <a:noFill/>
          <a:ln>
            <a:noFill/>
          </a:ln>
        </p:spPr>
        <p:txBody>
          <a:bodyPr spcFirstLastPara="1" wrap="square" lIns="91433" tIns="45700" rIns="91433" bIns="45700" anchor="t" anchorCtr="0">
            <a:noAutofit/>
          </a:bodyPr>
          <a:lstStyle/>
          <a:p>
            <a:pPr defTabSz="1219170">
              <a:buClr>
                <a:srgbClr val="000000"/>
              </a:buClr>
              <a:buSzPts val="900"/>
            </a:pPr>
            <a:r>
              <a:rPr lang="es-ES" sz="1200" kern="0" dirty="0">
                <a:solidFill>
                  <a:srgbClr val="242C4F"/>
                </a:solidFill>
                <a:latin typeface="Montserrat"/>
                <a:ea typeface="Montserrat"/>
                <a:cs typeface="Montserrat"/>
                <a:sym typeface="Montserrat"/>
              </a:rPr>
              <a:t>No todos los modelos de YOLO tienen el mismo tipo de licencia de uso, por lo que hay que prestar atención si uno quiere hacer uso comercial de los mismos,</a:t>
            </a:r>
            <a:endParaRPr sz="1200" kern="0" dirty="0">
              <a:solidFill>
                <a:srgbClr val="242C4F"/>
              </a:solidFill>
              <a:latin typeface="Montserrat"/>
              <a:ea typeface="Montserrat"/>
              <a:cs typeface="Montserrat"/>
              <a:sym typeface="Montserrat"/>
            </a:endParaRPr>
          </a:p>
        </p:txBody>
      </p:sp>
    </p:spTree>
    <p:extLst>
      <p:ext uri="{BB962C8B-B14F-4D97-AF65-F5344CB8AC3E}">
        <p14:creationId xmlns:p14="http://schemas.microsoft.com/office/powerpoint/2010/main" val="250583610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282A4E"/>
        </a:solidFill>
        <a:effectLst/>
      </p:bgPr>
    </p:bg>
    <p:spTree>
      <p:nvGrpSpPr>
        <p:cNvPr id="1" name="Shape 207">
          <a:extLst>
            <a:ext uri="{FF2B5EF4-FFF2-40B4-BE49-F238E27FC236}">
              <a16:creationId xmlns:a16="http://schemas.microsoft.com/office/drawing/2014/main" id="{59FC60CF-A96A-5C33-985F-4E3AB69188D2}"/>
            </a:ext>
          </a:extLst>
        </p:cNvPr>
        <p:cNvGrpSpPr/>
        <p:nvPr/>
      </p:nvGrpSpPr>
      <p:grpSpPr>
        <a:xfrm>
          <a:off x="0" y="0"/>
          <a:ext cx="0" cy="0"/>
          <a:chOff x="0" y="0"/>
          <a:chExt cx="0" cy="0"/>
        </a:xfrm>
      </p:grpSpPr>
      <p:sp>
        <p:nvSpPr>
          <p:cNvPr id="208" name="Google Shape;208;p45">
            <a:extLst>
              <a:ext uri="{FF2B5EF4-FFF2-40B4-BE49-F238E27FC236}">
                <a16:creationId xmlns:a16="http://schemas.microsoft.com/office/drawing/2014/main" id="{EB00CB83-9773-C85C-17F8-6835D0275E4D}"/>
              </a:ext>
            </a:extLst>
          </p:cNvPr>
          <p:cNvSpPr/>
          <p:nvPr/>
        </p:nvSpPr>
        <p:spPr>
          <a:xfrm>
            <a:off x="1190453" y="1637100"/>
            <a:ext cx="1035600" cy="400000"/>
          </a:xfrm>
          <a:prstGeom prst="rect">
            <a:avLst/>
          </a:prstGeom>
          <a:noFill/>
          <a:ln>
            <a:noFill/>
          </a:ln>
        </p:spPr>
        <p:txBody>
          <a:bodyPr spcFirstLastPara="1" wrap="square" lIns="91433" tIns="45700" rIns="91433" bIns="45700" anchor="t" anchorCtr="0">
            <a:noAutofit/>
          </a:bodyPr>
          <a:lstStyle/>
          <a:p>
            <a:pPr defTabSz="1219170">
              <a:buClr>
                <a:srgbClr val="000000"/>
              </a:buClr>
              <a:buSzPts val="1500"/>
            </a:pPr>
            <a:r>
              <a:rPr lang="en" sz="2000" kern="0">
                <a:solidFill>
                  <a:srgbClr val="5B9BD5"/>
                </a:solidFill>
                <a:latin typeface="Montserrat"/>
                <a:ea typeface="Montserrat"/>
                <a:cs typeface="Montserrat"/>
                <a:sym typeface="Montserrat"/>
              </a:rPr>
              <a:t>A.</a:t>
            </a:r>
            <a:endParaRPr sz="2000" kern="0">
              <a:solidFill>
                <a:srgbClr val="5B9BD5"/>
              </a:solidFill>
              <a:latin typeface="Montserrat"/>
              <a:ea typeface="Montserrat"/>
              <a:cs typeface="Montserrat"/>
              <a:sym typeface="Montserrat"/>
            </a:endParaRPr>
          </a:p>
        </p:txBody>
      </p:sp>
      <p:sp>
        <p:nvSpPr>
          <p:cNvPr id="209" name="Google Shape;209;p45">
            <a:extLst>
              <a:ext uri="{FF2B5EF4-FFF2-40B4-BE49-F238E27FC236}">
                <a16:creationId xmlns:a16="http://schemas.microsoft.com/office/drawing/2014/main" id="{EC6BE34B-1B9F-0CBA-E411-C8DBB8011B52}"/>
              </a:ext>
            </a:extLst>
          </p:cNvPr>
          <p:cNvSpPr/>
          <p:nvPr/>
        </p:nvSpPr>
        <p:spPr>
          <a:xfrm>
            <a:off x="1866733" y="1667900"/>
            <a:ext cx="9522526" cy="369200"/>
          </a:xfrm>
          <a:prstGeom prst="rect">
            <a:avLst/>
          </a:prstGeom>
          <a:noFill/>
          <a:ln>
            <a:noFill/>
          </a:ln>
        </p:spPr>
        <p:txBody>
          <a:bodyPr spcFirstLastPara="1" wrap="square" lIns="91433" tIns="45700" rIns="91433" bIns="45700" anchor="t" anchorCtr="0">
            <a:noAutofit/>
          </a:bodyPr>
          <a:lstStyle/>
          <a:p>
            <a:pPr defTabSz="1219170">
              <a:buClr>
                <a:srgbClr val="000000"/>
              </a:buClr>
              <a:buSzPts val="1400"/>
            </a:pPr>
            <a:r>
              <a:rPr lang="es-AR" sz="1600" b="1" kern="0" dirty="0">
                <a:solidFill>
                  <a:srgbClr val="FFFFFF"/>
                </a:solidFill>
                <a:latin typeface="Montserrat"/>
                <a:ea typeface="Montserrat"/>
                <a:cs typeface="Montserrat"/>
                <a:sym typeface="Montserrat"/>
              </a:rPr>
              <a:t>https://blog.roboflow.com/yolo-object-detection/#overview-of-yolo-family-of-models</a:t>
            </a:r>
            <a:endParaRPr sz="1600" b="1" kern="0" dirty="0">
              <a:solidFill>
                <a:srgbClr val="FFFFFF"/>
              </a:solidFill>
              <a:latin typeface="Montserrat"/>
              <a:ea typeface="Montserrat"/>
              <a:cs typeface="Montserrat"/>
              <a:sym typeface="Montserrat"/>
            </a:endParaRPr>
          </a:p>
        </p:txBody>
      </p:sp>
      <p:sp>
        <p:nvSpPr>
          <p:cNvPr id="210" name="Google Shape;210;p45">
            <a:extLst>
              <a:ext uri="{FF2B5EF4-FFF2-40B4-BE49-F238E27FC236}">
                <a16:creationId xmlns:a16="http://schemas.microsoft.com/office/drawing/2014/main" id="{44540AEC-6ADB-AA4F-2B2D-8BC79C524048}"/>
              </a:ext>
            </a:extLst>
          </p:cNvPr>
          <p:cNvSpPr/>
          <p:nvPr/>
        </p:nvSpPr>
        <p:spPr>
          <a:xfrm>
            <a:off x="1190476" y="3085900"/>
            <a:ext cx="1035600" cy="400000"/>
          </a:xfrm>
          <a:prstGeom prst="rect">
            <a:avLst/>
          </a:prstGeom>
          <a:noFill/>
          <a:ln>
            <a:noFill/>
          </a:ln>
        </p:spPr>
        <p:txBody>
          <a:bodyPr spcFirstLastPara="1" wrap="square" lIns="91433" tIns="45700" rIns="91433" bIns="45700" anchor="t" anchorCtr="0">
            <a:noAutofit/>
          </a:bodyPr>
          <a:lstStyle/>
          <a:p>
            <a:pPr defTabSz="1219170">
              <a:buClr>
                <a:srgbClr val="000000"/>
              </a:buClr>
              <a:buSzPts val="1500"/>
            </a:pPr>
            <a:r>
              <a:rPr lang="en" sz="2000" kern="0">
                <a:solidFill>
                  <a:srgbClr val="5B9BD5"/>
                </a:solidFill>
                <a:latin typeface="Montserrat"/>
                <a:ea typeface="Montserrat"/>
                <a:cs typeface="Montserrat"/>
                <a:sym typeface="Montserrat"/>
              </a:rPr>
              <a:t>C.</a:t>
            </a:r>
            <a:endParaRPr sz="2000" kern="0">
              <a:solidFill>
                <a:srgbClr val="5B9BD5"/>
              </a:solidFill>
              <a:latin typeface="Montserrat"/>
              <a:ea typeface="Montserrat"/>
              <a:cs typeface="Montserrat"/>
              <a:sym typeface="Montserrat"/>
            </a:endParaRPr>
          </a:p>
        </p:txBody>
      </p:sp>
      <p:sp>
        <p:nvSpPr>
          <p:cNvPr id="211" name="Google Shape;211;p45">
            <a:extLst>
              <a:ext uri="{FF2B5EF4-FFF2-40B4-BE49-F238E27FC236}">
                <a16:creationId xmlns:a16="http://schemas.microsoft.com/office/drawing/2014/main" id="{8CEE6DD5-A675-6571-AB76-92F38B482FB6}"/>
              </a:ext>
            </a:extLst>
          </p:cNvPr>
          <p:cNvSpPr/>
          <p:nvPr/>
        </p:nvSpPr>
        <p:spPr>
          <a:xfrm>
            <a:off x="1866776" y="3085900"/>
            <a:ext cx="6775200" cy="369200"/>
          </a:xfrm>
          <a:prstGeom prst="rect">
            <a:avLst/>
          </a:prstGeom>
          <a:noFill/>
          <a:ln>
            <a:noFill/>
          </a:ln>
        </p:spPr>
        <p:txBody>
          <a:bodyPr spcFirstLastPara="1" wrap="square" lIns="91433" tIns="45700" rIns="91433" bIns="45700" anchor="t" anchorCtr="0">
            <a:noAutofit/>
          </a:bodyPr>
          <a:lstStyle/>
          <a:p>
            <a:pPr defTabSz="1219170">
              <a:buClr>
                <a:srgbClr val="000000"/>
              </a:buClr>
              <a:buSzPts val="1400"/>
            </a:pPr>
            <a:r>
              <a:rPr lang="es-AR" sz="1600" b="1" kern="0" dirty="0">
                <a:solidFill>
                  <a:srgbClr val="FFFFFF"/>
                </a:solidFill>
                <a:latin typeface="Montserrat"/>
                <a:ea typeface="Montserrat"/>
                <a:cs typeface="Montserrat"/>
                <a:sym typeface="Montserrat"/>
              </a:rPr>
              <a:t>https://www.tensorflow.org/tutorials/images/cnn?hl=es-419</a:t>
            </a:r>
            <a:endParaRPr sz="1600" b="1" kern="0" dirty="0">
              <a:solidFill>
                <a:srgbClr val="FFFFFF"/>
              </a:solidFill>
              <a:latin typeface="Montserrat"/>
              <a:ea typeface="Montserrat"/>
              <a:cs typeface="Montserrat"/>
              <a:sym typeface="Montserrat"/>
            </a:endParaRPr>
          </a:p>
          <a:p>
            <a:pPr defTabSz="1219170">
              <a:buClr>
                <a:srgbClr val="000000"/>
              </a:buClr>
              <a:buSzPts val="1400"/>
            </a:pPr>
            <a:endParaRPr sz="1600" b="1" kern="0" dirty="0">
              <a:solidFill>
                <a:srgbClr val="FFFFFF"/>
              </a:solidFill>
              <a:latin typeface="Montserrat"/>
              <a:ea typeface="Montserrat"/>
              <a:cs typeface="Montserrat"/>
              <a:sym typeface="Montserrat"/>
            </a:endParaRPr>
          </a:p>
        </p:txBody>
      </p:sp>
      <p:sp>
        <p:nvSpPr>
          <p:cNvPr id="212" name="Google Shape;212;p45">
            <a:extLst>
              <a:ext uri="{FF2B5EF4-FFF2-40B4-BE49-F238E27FC236}">
                <a16:creationId xmlns:a16="http://schemas.microsoft.com/office/drawing/2014/main" id="{66C36BAB-E4D8-6675-EEF8-E18C34C58E8C}"/>
              </a:ext>
            </a:extLst>
          </p:cNvPr>
          <p:cNvSpPr/>
          <p:nvPr/>
        </p:nvSpPr>
        <p:spPr>
          <a:xfrm>
            <a:off x="1190453" y="2361511"/>
            <a:ext cx="1035600" cy="400000"/>
          </a:xfrm>
          <a:prstGeom prst="rect">
            <a:avLst/>
          </a:prstGeom>
          <a:noFill/>
          <a:ln>
            <a:noFill/>
          </a:ln>
        </p:spPr>
        <p:txBody>
          <a:bodyPr spcFirstLastPara="1" wrap="square" lIns="91433" tIns="45700" rIns="91433" bIns="45700" anchor="t" anchorCtr="0">
            <a:noAutofit/>
          </a:bodyPr>
          <a:lstStyle/>
          <a:p>
            <a:pPr defTabSz="1219170">
              <a:buClr>
                <a:srgbClr val="000000"/>
              </a:buClr>
              <a:buSzPts val="1500"/>
            </a:pPr>
            <a:r>
              <a:rPr lang="en" sz="2000" kern="0">
                <a:solidFill>
                  <a:srgbClr val="5B9BD5"/>
                </a:solidFill>
                <a:latin typeface="Montserrat"/>
                <a:ea typeface="Montserrat"/>
                <a:cs typeface="Montserrat"/>
                <a:sym typeface="Montserrat"/>
              </a:rPr>
              <a:t>B.</a:t>
            </a:r>
            <a:endParaRPr sz="2000" kern="0">
              <a:solidFill>
                <a:srgbClr val="5B9BD5"/>
              </a:solidFill>
              <a:latin typeface="Montserrat"/>
              <a:ea typeface="Montserrat"/>
              <a:cs typeface="Montserrat"/>
              <a:sym typeface="Montserrat"/>
            </a:endParaRPr>
          </a:p>
        </p:txBody>
      </p:sp>
      <p:sp>
        <p:nvSpPr>
          <p:cNvPr id="213" name="Google Shape;213;p45">
            <a:extLst>
              <a:ext uri="{FF2B5EF4-FFF2-40B4-BE49-F238E27FC236}">
                <a16:creationId xmlns:a16="http://schemas.microsoft.com/office/drawing/2014/main" id="{ED2748DD-ECAB-5931-8C85-C3581764B607}"/>
              </a:ext>
            </a:extLst>
          </p:cNvPr>
          <p:cNvSpPr/>
          <p:nvPr/>
        </p:nvSpPr>
        <p:spPr>
          <a:xfrm>
            <a:off x="1866733" y="2361500"/>
            <a:ext cx="7424800" cy="369200"/>
          </a:xfrm>
          <a:prstGeom prst="rect">
            <a:avLst/>
          </a:prstGeom>
          <a:noFill/>
          <a:ln>
            <a:noFill/>
          </a:ln>
        </p:spPr>
        <p:txBody>
          <a:bodyPr spcFirstLastPara="1" wrap="square" lIns="91433" tIns="45700" rIns="91433" bIns="45700" anchor="t" anchorCtr="0">
            <a:noAutofit/>
          </a:bodyPr>
          <a:lstStyle/>
          <a:p>
            <a:pPr defTabSz="1219170">
              <a:buClr>
                <a:srgbClr val="000000"/>
              </a:buClr>
              <a:buSzPts val="1400"/>
            </a:pPr>
            <a:r>
              <a:rPr lang="es-AR" sz="1600" b="1" kern="0" dirty="0">
                <a:solidFill>
                  <a:srgbClr val="FFFFFF"/>
                </a:solidFill>
                <a:latin typeface="Montserrat"/>
                <a:ea typeface="Montserrat"/>
                <a:cs typeface="Montserrat"/>
                <a:sym typeface="Montserrat"/>
              </a:rPr>
              <a:t>https://docs.ultralytics.com/es/models/yolo26</a:t>
            </a:r>
            <a:endParaRPr sz="1600" b="1" kern="0" dirty="0">
              <a:solidFill>
                <a:srgbClr val="FFFFFF"/>
              </a:solidFill>
              <a:latin typeface="Montserrat"/>
              <a:ea typeface="Montserrat"/>
              <a:cs typeface="Montserrat"/>
              <a:sym typeface="Montserrat"/>
            </a:endParaRPr>
          </a:p>
          <a:p>
            <a:pPr defTabSz="1219170">
              <a:buClr>
                <a:srgbClr val="000000"/>
              </a:buClr>
              <a:buSzPts val="1400"/>
            </a:pPr>
            <a:endParaRPr sz="1600" b="1" kern="0" dirty="0">
              <a:solidFill>
                <a:srgbClr val="FFFFFF"/>
              </a:solidFill>
              <a:latin typeface="Montserrat"/>
              <a:ea typeface="Montserrat"/>
              <a:cs typeface="Montserrat"/>
              <a:sym typeface="Montserrat"/>
            </a:endParaRPr>
          </a:p>
        </p:txBody>
      </p:sp>
      <p:cxnSp>
        <p:nvCxnSpPr>
          <p:cNvPr id="216" name="Google Shape;216;p45">
            <a:extLst>
              <a:ext uri="{FF2B5EF4-FFF2-40B4-BE49-F238E27FC236}">
                <a16:creationId xmlns:a16="http://schemas.microsoft.com/office/drawing/2014/main" id="{686FE324-7A0C-C8B1-48C5-FFA13CB404D3}"/>
              </a:ext>
            </a:extLst>
          </p:cNvPr>
          <p:cNvCxnSpPr/>
          <p:nvPr/>
        </p:nvCxnSpPr>
        <p:spPr>
          <a:xfrm>
            <a:off x="1190467" y="1014600"/>
            <a:ext cx="9988000" cy="0"/>
          </a:xfrm>
          <a:prstGeom prst="straightConnector1">
            <a:avLst/>
          </a:prstGeom>
          <a:noFill/>
          <a:ln w="9525" cap="flat" cmpd="sng">
            <a:solidFill>
              <a:srgbClr val="E6BB62"/>
            </a:solidFill>
            <a:prstDash val="solid"/>
            <a:round/>
            <a:headEnd type="none" w="sm" len="sm"/>
            <a:tailEnd type="none" w="sm" len="sm"/>
          </a:ln>
          <a:effectLst>
            <a:outerShdw blurRad="57150" dist="19050" dir="5400000" algn="bl" rotWithShape="0">
              <a:srgbClr val="000000">
                <a:alpha val="23920"/>
              </a:srgbClr>
            </a:outerShdw>
          </a:effectLst>
        </p:spPr>
      </p:cxnSp>
      <p:sp>
        <p:nvSpPr>
          <p:cNvPr id="217" name="Google Shape;217;p45">
            <a:extLst>
              <a:ext uri="{FF2B5EF4-FFF2-40B4-BE49-F238E27FC236}">
                <a16:creationId xmlns:a16="http://schemas.microsoft.com/office/drawing/2014/main" id="{70C5E52F-BAB1-2BBF-87F4-6EF2753FF3D2}"/>
              </a:ext>
            </a:extLst>
          </p:cNvPr>
          <p:cNvSpPr txBox="1"/>
          <p:nvPr/>
        </p:nvSpPr>
        <p:spPr>
          <a:xfrm>
            <a:off x="1090679" y="539367"/>
            <a:ext cx="2327600" cy="400000"/>
          </a:xfrm>
          <a:prstGeom prst="rect">
            <a:avLst/>
          </a:prstGeom>
          <a:noFill/>
          <a:ln>
            <a:noFill/>
          </a:ln>
        </p:spPr>
        <p:txBody>
          <a:bodyPr spcFirstLastPara="1" wrap="square" lIns="91433" tIns="45700" rIns="91433" bIns="45700" anchor="t" anchorCtr="0">
            <a:noAutofit/>
          </a:bodyPr>
          <a:lstStyle/>
          <a:p>
            <a:pPr defTabSz="1219170">
              <a:buClr>
                <a:srgbClr val="000000"/>
              </a:buClr>
              <a:buSzPts val="1700"/>
            </a:pPr>
            <a:r>
              <a:rPr lang="en" sz="2267" b="1" kern="0" dirty="0">
                <a:solidFill>
                  <a:srgbClr val="E6BB62"/>
                </a:solidFill>
                <a:latin typeface="Lora"/>
                <a:ea typeface="Lora"/>
                <a:cs typeface="Lora"/>
                <a:sym typeface="Lora"/>
              </a:rPr>
              <a:t>Bibliografía</a:t>
            </a:r>
            <a:endParaRPr sz="2267" b="1" kern="0" dirty="0">
              <a:solidFill>
                <a:srgbClr val="E6BB62"/>
              </a:solidFill>
              <a:latin typeface="Lora"/>
              <a:ea typeface="Lora"/>
              <a:cs typeface="Lora"/>
              <a:sym typeface="Lora"/>
            </a:endParaRPr>
          </a:p>
        </p:txBody>
      </p:sp>
    </p:spTree>
    <p:extLst>
      <p:ext uri="{BB962C8B-B14F-4D97-AF65-F5344CB8AC3E}">
        <p14:creationId xmlns:p14="http://schemas.microsoft.com/office/powerpoint/2010/main" val="143493668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433"/>
        <p:cNvGrpSpPr/>
        <p:nvPr/>
      </p:nvGrpSpPr>
      <p:grpSpPr>
        <a:xfrm>
          <a:off x="0" y="0"/>
          <a:ext cx="0" cy="0"/>
          <a:chOff x="0" y="0"/>
          <a:chExt cx="0" cy="0"/>
        </a:xfrm>
      </p:grpSpPr>
      <p:sp>
        <p:nvSpPr>
          <p:cNvPr id="434" name="Google Shape;434;p60"/>
          <p:cNvSpPr txBox="1"/>
          <p:nvPr/>
        </p:nvSpPr>
        <p:spPr>
          <a:xfrm>
            <a:off x="1196664" y="1126568"/>
            <a:ext cx="8464000" cy="666745"/>
          </a:xfrm>
          <a:prstGeom prst="rect">
            <a:avLst/>
          </a:prstGeom>
          <a:noFill/>
          <a:ln>
            <a:noFill/>
          </a:ln>
        </p:spPr>
        <p:txBody>
          <a:bodyPr spcFirstLastPara="1" wrap="square" lIns="91433" tIns="45700" rIns="91433"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Pts val="2800"/>
              <a:buFontTx/>
              <a:buNone/>
              <a:tabLst/>
              <a:defRPr/>
            </a:pPr>
            <a:r>
              <a:rPr kumimoji="0" lang="en" sz="3733" b="0" i="0" u="none" strike="noStrike" kern="1200" cap="none" spc="0" normalizeH="0" baseline="0" noProof="0" dirty="0">
                <a:ln>
                  <a:noFill/>
                </a:ln>
                <a:solidFill>
                  <a:srgbClr val="FFFFFF"/>
                </a:solidFill>
                <a:effectLst/>
                <a:uLnTx/>
                <a:uFillTx/>
                <a:latin typeface="Lora Medium"/>
                <a:ea typeface="Lora Medium"/>
                <a:cs typeface="Lora Medium"/>
                <a:sym typeface="Lora Medium"/>
              </a:rPr>
              <a:t>Muchas gracias</a:t>
            </a:r>
            <a:endParaRPr kumimoji="0" sz="3733" b="0" i="0" u="none" strike="noStrike" kern="1200" cap="none" spc="0" normalizeH="0" baseline="0" noProof="0" dirty="0">
              <a:ln>
                <a:noFill/>
              </a:ln>
              <a:solidFill>
                <a:srgbClr val="FFFFFF"/>
              </a:solidFill>
              <a:effectLst/>
              <a:uLnTx/>
              <a:uFillTx/>
              <a:latin typeface="Lora Medium"/>
              <a:ea typeface="Lora Medium"/>
              <a:cs typeface="Lora Medium"/>
              <a:sym typeface="Lora Medium"/>
            </a:endParaRPr>
          </a:p>
        </p:txBody>
      </p:sp>
      <p:sp>
        <p:nvSpPr>
          <p:cNvPr id="2" name="Google Shape;209;p45">
            <a:extLst>
              <a:ext uri="{FF2B5EF4-FFF2-40B4-BE49-F238E27FC236}">
                <a16:creationId xmlns:a16="http://schemas.microsoft.com/office/drawing/2014/main" id="{F01E9A35-3115-1BC4-5AA5-01081A50406C}"/>
              </a:ext>
            </a:extLst>
          </p:cNvPr>
          <p:cNvSpPr/>
          <p:nvPr/>
        </p:nvSpPr>
        <p:spPr>
          <a:xfrm>
            <a:off x="1227300" y="2244626"/>
            <a:ext cx="7607418" cy="1938952"/>
          </a:xfrm>
          <a:prstGeom prst="rect">
            <a:avLst/>
          </a:prstGeom>
          <a:noFill/>
          <a:ln>
            <a:noFill/>
          </a:ln>
        </p:spPr>
        <p:txBody>
          <a:bodyPr spcFirstLastPara="1" wrap="square" lIns="91433" tIns="45700" rIns="91433" bIns="45700" anchor="t" anchorCtr="0">
            <a:spAutoFit/>
          </a:bodyPr>
          <a:lstStyle/>
          <a:p>
            <a:pPr defTabSz="1219170">
              <a:lnSpc>
                <a:spcPct val="120000"/>
              </a:lnSpc>
              <a:buClr>
                <a:srgbClr val="000000"/>
              </a:buClr>
              <a:buSzPts val="1400"/>
            </a:pPr>
            <a:r>
              <a:rPr lang="en" sz="1600" b="1" kern="0" dirty="0">
                <a:solidFill>
                  <a:srgbClr val="FFFFFF"/>
                </a:solidFill>
                <a:latin typeface="Montserrat"/>
                <a:ea typeface="Montserrat"/>
                <a:cs typeface="Montserrat"/>
                <a:sym typeface="Montserrat"/>
              </a:rPr>
              <a:t>Lic en Estrategia Contemporanea, Juan Valle</a:t>
            </a:r>
          </a:p>
          <a:p>
            <a:pPr defTabSz="1219170">
              <a:lnSpc>
                <a:spcPct val="120000"/>
              </a:lnSpc>
              <a:buClr>
                <a:srgbClr val="000000"/>
              </a:buClr>
              <a:buSzPts val="1400"/>
            </a:pPr>
            <a:r>
              <a:rPr lang="en" sz="1400" kern="0" dirty="0">
                <a:solidFill>
                  <a:srgbClr val="FFFFFF"/>
                </a:solidFill>
                <a:latin typeface="Montserrat"/>
                <a:ea typeface="Montserrat"/>
                <a:cs typeface="Montserrat"/>
                <a:sym typeface="Montserrat"/>
              </a:rPr>
              <a:t>INSTITUTO NACIONAL DE TECNOLOGÍA INDUSTRIAL</a:t>
            </a:r>
          </a:p>
          <a:p>
            <a:pPr defTabSz="1219170">
              <a:lnSpc>
                <a:spcPct val="120000"/>
              </a:lnSpc>
              <a:buClr>
                <a:srgbClr val="000000"/>
              </a:buClr>
              <a:buSzPts val="1400"/>
            </a:pPr>
            <a:endParaRPr lang="en" sz="1400" kern="0" dirty="0">
              <a:solidFill>
                <a:srgbClr val="FFFFFF"/>
              </a:solidFill>
              <a:latin typeface="Montserrat"/>
              <a:ea typeface="Montserrat"/>
              <a:cs typeface="Montserrat"/>
              <a:sym typeface="Montserrat"/>
            </a:endParaRPr>
          </a:p>
          <a:p>
            <a:pPr defTabSz="1219170">
              <a:lnSpc>
                <a:spcPct val="120000"/>
              </a:lnSpc>
              <a:buClr>
                <a:srgbClr val="000000"/>
              </a:buClr>
              <a:buSzPts val="1400"/>
            </a:pPr>
            <a:r>
              <a:rPr lang="en" sz="1400" kern="0" dirty="0">
                <a:solidFill>
                  <a:srgbClr val="FFFFFF"/>
                </a:solidFill>
                <a:latin typeface="Montserrat"/>
                <a:ea typeface="Montserrat"/>
                <a:cs typeface="Montserrat"/>
                <a:sym typeface="Montserrat"/>
              </a:rPr>
              <a:t>Departamento de Industria 4.0</a:t>
            </a:r>
          </a:p>
          <a:p>
            <a:pPr defTabSz="1219170">
              <a:lnSpc>
                <a:spcPct val="120000"/>
              </a:lnSpc>
              <a:buClr>
                <a:srgbClr val="000000"/>
              </a:buClr>
              <a:buSzPts val="1400"/>
            </a:pPr>
            <a:r>
              <a:rPr lang="en" sz="1400" kern="0" dirty="0">
                <a:solidFill>
                  <a:srgbClr val="FFFFFF"/>
                </a:solidFill>
                <a:latin typeface="Montserrat"/>
                <a:ea typeface="Montserrat"/>
                <a:cs typeface="Montserrat"/>
                <a:sym typeface="Montserrat"/>
              </a:rPr>
              <a:t>Dirección Técnica de Transformación Digital</a:t>
            </a:r>
          </a:p>
          <a:p>
            <a:pPr defTabSz="1219170">
              <a:lnSpc>
                <a:spcPct val="120000"/>
              </a:lnSpc>
              <a:buClr>
                <a:srgbClr val="000000"/>
              </a:buClr>
              <a:buSzPts val="1400"/>
            </a:pPr>
            <a:r>
              <a:rPr lang="en" sz="1400" kern="0" dirty="0">
                <a:solidFill>
                  <a:srgbClr val="FFFFFF"/>
                </a:solidFill>
                <a:latin typeface="Montserrat"/>
                <a:ea typeface="Montserrat"/>
                <a:cs typeface="Montserrat"/>
                <a:sym typeface="Montserrat"/>
              </a:rPr>
              <a:t>Subgerencia de Áreas de Conocimiento</a:t>
            </a:r>
          </a:p>
          <a:p>
            <a:pPr defTabSz="1219170">
              <a:lnSpc>
                <a:spcPct val="120000"/>
              </a:lnSpc>
              <a:buClr>
                <a:srgbClr val="000000"/>
              </a:buClr>
              <a:buSzPts val="1400"/>
            </a:pPr>
            <a:r>
              <a:rPr lang="en" sz="1400" kern="0" dirty="0">
                <a:solidFill>
                  <a:srgbClr val="FFFFFF"/>
                </a:solidFill>
                <a:latin typeface="Montserrat"/>
                <a:ea typeface="Montserrat"/>
                <a:cs typeface="Montserrat"/>
                <a:sym typeface="Montserrat"/>
              </a:rPr>
              <a:t>Gerencia de Desarrollo Tecnológoco e Innovación</a:t>
            </a:r>
            <a:endParaRPr sz="1400" kern="0" dirty="0">
              <a:solidFill>
                <a:srgbClr val="FFFFFF"/>
              </a:solidFill>
              <a:latin typeface="Montserrat"/>
              <a:ea typeface="Montserrat"/>
              <a:cs typeface="Montserrat"/>
              <a:sym typeface="Montserrat"/>
            </a:endParaRPr>
          </a:p>
        </p:txBody>
      </p:sp>
      <p:sp>
        <p:nvSpPr>
          <p:cNvPr id="4" name="Google Shape;209;p45">
            <a:extLst>
              <a:ext uri="{FF2B5EF4-FFF2-40B4-BE49-F238E27FC236}">
                <a16:creationId xmlns:a16="http://schemas.microsoft.com/office/drawing/2014/main" id="{CA5521E6-1C0B-57A4-B33C-9BEAF5BCF24A}"/>
              </a:ext>
            </a:extLst>
          </p:cNvPr>
          <p:cNvSpPr/>
          <p:nvPr/>
        </p:nvSpPr>
        <p:spPr>
          <a:xfrm>
            <a:off x="3220142" y="5707720"/>
            <a:ext cx="4944900" cy="387758"/>
          </a:xfrm>
          <a:prstGeom prst="rect">
            <a:avLst/>
          </a:prstGeom>
          <a:noFill/>
          <a:ln>
            <a:noFill/>
          </a:ln>
        </p:spPr>
        <p:txBody>
          <a:bodyPr spcFirstLastPara="1" wrap="square" lIns="91433" tIns="45700" rIns="91433" bIns="45700" anchor="t" anchorCtr="0">
            <a:spAutoFit/>
          </a:bodyPr>
          <a:lstStyle/>
          <a:p>
            <a:pPr defTabSz="1219170">
              <a:lnSpc>
                <a:spcPct val="120000"/>
              </a:lnSpc>
              <a:buClr>
                <a:srgbClr val="000000"/>
              </a:buClr>
              <a:buSzPts val="1400"/>
            </a:pPr>
            <a:r>
              <a:rPr lang="en" sz="1600" kern="0" dirty="0">
                <a:solidFill>
                  <a:srgbClr val="FFFFFF"/>
                </a:solidFill>
                <a:latin typeface="Montserrat"/>
                <a:ea typeface="Montserrat"/>
                <a:cs typeface="Montserrat"/>
                <a:sym typeface="Montserrat"/>
              </a:rPr>
              <a:t>|  protocolo@inti.gob.ar  |  </a:t>
            </a:r>
            <a:r>
              <a:rPr lang="en" sz="1600" b="1" kern="0" dirty="0">
                <a:solidFill>
                  <a:srgbClr val="FFFFFF"/>
                </a:solidFill>
                <a:latin typeface="Montserrat"/>
                <a:ea typeface="Montserrat"/>
                <a:cs typeface="Montserrat"/>
                <a:sym typeface="Montserrat"/>
              </a:rPr>
              <a:t>www.inti.gob.ar</a:t>
            </a:r>
          </a:p>
        </p:txBody>
      </p:sp>
      <p:pic>
        <p:nvPicPr>
          <p:cNvPr id="6" name="Gráfico 5">
            <a:extLst>
              <a:ext uri="{FF2B5EF4-FFF2-40B4-BE49-F238E27FC236}">
                <a16:creationId xmlns:a16="http://schemas.microsoft.com/office/drawing/2014/main" id="{C156CA6C-F9E8-C76A-8614-74658D8EA21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96664" y="5754787"/>
            <a:ext cx="1933575" cy="314325"/>
          </a:xfrm>
          <a:prstGeom prst="rect">
            <a:avLst/>
          </a:prstGeom>
        </p:spPr>
      </p:pic>
    </p:spTree>
  </p:cSld>
  <p:clrMapOvr>
    <a:masterClrMapping/>
  </p:clrMapOvr>
</p:sld>
</file>

<file path=ppt/theme/theme1.xml><?xml version="1.0" encoding="utf-8"?>
<a:theme xmlns:a="http://schemas.openxmlformats.org/drawingml/2006/main" name="1_PPT BASE MINISTERIOS">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o" ma:contentTypeID="0x0101002FD01AE4C846C64BB270C14B7BF35715" ma:contentTypeVersion="11" ma:contentTypeDescription="Crear nuevo documento." ma:contentTypeScope="" ma:versionID="fb7caebc00aa4256b47a72253b79936f">
  <xsd:schema xmlns:xsd="http://www.w3.org/2001/XMLSchema" xmlns:xs="http://www.w3.org/2001/XMLSchema" xmlns:p="http://schemas.microsoft.com/office/2006/metadata/properties" xmlns:ns2="f02fd5ef-67ad-454d-a360-7ce758e52b60" xmlns:ns3="294685c4-18b0-492e-b4fd-b6ca13da8b8f" targetNamespace="http://schemas.microsoft.com/office/2006/metadata/properties" ma:root="true" ma:fieldsID="fcf77418ff36026f85a021d0ce96cbe7" ns2:_="" ns3:_="">
    <xsd:import namespace="f02fd5ef-67ad-454d-a360-7ce758e52b60"/>
    <xsd:import namespace="294685c4-18b0-492e-b4fd-b6ca13da8b8f"/>
    <xsd:element name="properties">
      <xsd:complexType>
        <xsd:sequence>
          <xsd:element name="documentManagement">
            <xsd:complexType>
              <xsd:all>
                <xsd:element ref="ns2:MediaServiceMetadata" minOccurs="0"/>
                <xsd:element ref="ns2:MediaServiceFastMetadata" minOccurs="0"/>
                <xsd:element ref="ns2:lcf76f155ced4ddcb4097134ff3c332f" minOccurs="0"/>
                <xsd:element ref="ns3:TaxCatchAll" minOccurs="0"/>
                <xsd:element ref="ns2:MediaServiceGenerationTime" minOccurs="0"/>
                <xsd:element ref="ns2:MediaServiceEventHashCode" minOccurs="0"/>
                <xsd:element ref="ns3:SharedWithUsers" minOccurs="0"/>
                <xsd:element ref="ns3:SharedWithDetails"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f02fd5ef-67ad-454d-a360-7ce758e52b60"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lcf76f155ced4ddcb4097134ff3c332f" ma:index="11" nillable="true" ma:taxonomy="true" ma:internalName="lcf76f155ced4ddcb4097134ff3c332f" ma:taxonomyFieldName="MediaServiceImageTags" ma:displayName="Etiquetas de imagen" ma:readOnly="false" ma:fieldId="{5cf76f15-5ced-4ddc-b409-7134ff3c332f}" ma:taxonomyMulti="true" ma:sspId="e093ffec-c6ed-42c8-8e9f-dea048bd0aef" ma:termSetId="09814cd3-568e-fe90-9814-8d621ff8fb84" ma:anchorId="fba54fb3-c3e1-fe81-a776-ca4b69148c4d" ma:open="true" ma:isKeyword="false">
      <xsd:complexType>
        <xsd:sequence>
          <xsd:element ref="pc:Terms" minOccurs="0" maxOccurs="1"/>
        </xsd:sequence>
      </xsd:complex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ServiceObjectDetectorVersions" ma:index="17" nillable="true" ma:displayName="MediaServiceObjectDetectorVersions" ma:hidden="true" ma:indexed="true" ma:internalName="MediaServiceObjectDetectorVersions" ma:readOnly="true">
      <xsd:simpleType>
        <xsd:restriction base="dms:Text"/>
      </xsd:simpleType>
    </xsd:element>
    <xsd:element name="MediaServiceSearchProperties" ma:index="18"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94685c4-18b0-492e-b4fd-b6ca13da8b8f" elementFormDefault="qualified">
    <xsd:import namespace="http://schemas.microsoft.com/office/2006/documentManagement/types"/>
    <xsd:import namespace="http://schemas.microsoft.com/office/infopath/2007/PartnerControls"/>
    <xsd:element name="TaxCatchAll" ma:index="12" nillable="true" ma:displayName="Taxonomy Catch All Column" ma:hidden="true" ma:list="{97432362-44d8-439d-a03f-22e4ad790633}" ma:internalName="TaxCatchAll" ma:showField="CatchAllData" ma:web="294685c4-18b0-492e-b4fd-b6ca13da8b8f">
      <xsd:complexType>
        <xsd:complexContent>
          <xsd:extension base="dms:MultiChoiceLookup">
            <xsd:sequence>
              <xsd:element name="Value" type="dms:Lookup" maxOccurs="unbounded" minOccurs="0" nillable="true"/>
            </xsd:sequence>
          </xsd:extension>
        </xsd:complexContent>
      </xsd:complexType>
    </xsd:element>
    <xsd:element name="SharedWithUsers" ma:index="15" nillable="true" ma:displayName="Compartido c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6" nillable="true" ma:displayName="Detalles de uso compartido"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ipo de contenido"/>
        <xsd:element ref="dc:title" minOccurs="0" maxOccurs="1" ma:index="4" ma:displayName="Título"/>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FD0B0A6D-E372-4A11-8308-AE5C6C728677}">
  <ds:schemaRefs>
    <ds:schemaRef ds:uri="http://schemas.microsoft.com/sharepoint/v3/contenttype/forms"/>
  </ds:schemaRefs>
</ds:datastoreItem>
</file>

<file path=customXml/itemProps2.xml><?xml version="1.0" encoding="utf-8"?>
<ds:datastoreItem xmlns:ds="http://schemas.openxmlformats.org/officeDocument/2006/customXml" ds:itemID="{01210FE6-2FA8-4A24-994A-5EF8788100D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f02fd5ef-67ad-454d-a360-7ce758e52b60"/>
    <ds:schemaRef ds:uri="294685c4-18b0-492e-b4fd-b6ca13da8b8f"/>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
  <TotalTime>3940</TotalTime>
  <Words>809</Words>
  <Application>Microsoft Office PowerPoint</Application>
  <PresentationFormat>Panorámica</PresentationFormat>
  <Paragraphs>70</Paragraphs>
  <Slides>11</Slides>
  <Notes>11</Notes>
  <HiddenSlides>0</HiddenSlides>
  <MMClips>0</MMClips>
  <ScaleCrop>false</ScaleCrop>
  <HeadingPairs>
    <vt:vector size="6" baseType="variant">
      <vt:variant>
        <vt:lpstr>Fuentes usadas</vt:lpstr>
      </vt:variant>
      <vt:variant>
        <vt:i4>6</vt:i4>
      </vt:variant>
      <vt:variant>
        <vt:lpstr>Tema</vt:lpstr>
      </vt:variant>
      <vt:variant>
        <vt:i4>1</vt:i4>
      </vt:variant>
      <vt:variant>
        <vt:lpstr>Títulos de diapositiva</vt:lpstr>
      </vt:variant>
      <vt:variant>
        <vt:i4>11</vt:i4>
      </vt:variant>
    </vt:vector>
  </HeadingPairs>
  <TitlesOfParts>
    <vt:vector size="18" baseType="lpstr">
      <vt:lpstr>Arial</vt:lpstr>
      <vt:lpstr>Calibri</vt:lpstr>
      <vt:lpstr>Lora</vt:lpstr>
      <vt:lpstr>Lora Medium</vt:lpstr>
      <vt:lpstr>Montserrat</vt:lpstr>
      <vt:lpstr>Verdana</vt:lpstr>
      <vt:lpstr>1_PPT BASE MINISTERIOS</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Maria Movsichoff</dc:creator>
  <cp:lastModifiedBy>Juan Francisco González Valle López</cp:lastModifiedBy>
  <cp:revision>168</cp:revision>
  <dcterms:created xsi:type="dcterms:W3CDTF">2023-11-03T22:54:22Z</dcterms:created>
  <dcterms:modified xsi:type="dcterms:W3CDTF">2026-07-03T11:13:05Z</dcterms:modified>
</cp:coreProperties>
</file>